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Lst>
  <p:notesMasterIdLst>
    <p:notesMasterId r:id="rId23"/>
  </p:notesMasterIdLst>
  <p:handoutMasterIdLst>
    <p:handoutMasterId r:id="rId24"/>
  </p:handoutMasterIdLst>
  <p:sldIdLst>
    <p:sldId id="266" r:id="rId5"/>
    <p:sldId id="694" r:id="rId6"/>
    <p:sldId id="696" r:id="rId7"/>
    <p:sldId id="695" r:id="rId8"/>
    <p:sldId id="458" r:id="rId9"/>
    <p:sldId id="475" r:id="rId10"/>
    <p:sldId id="476" r:id="rId11"/>
    <p:sldId id="697" r:id="rId29"/>
    <p:sldId id="485" r:id="rId12"/>
    <p:sldId id="477" r:id="rId13"/>
    <p:sldId id="478" r:id="rId14"/>
    <p:sldId id="479" r:id="rId15"/>
    <p:sldId id="698" r:id="rId30"/>
    <p:sldId id="480" r:id="rId16"/>
    <p:sldId id="486" r:id="rId17"/>
    <p:sldId id="487" r:id="rId18"/>
    <p:sldId id="488" r:id="rId19"/>
    <p:sldId id="699" r:id="rId31"/>
    <p:sldId id="482" r:id="rId20"/>
    <p:sldId id="484" r:id="rId21"/>
    <p:sldId id="329" r:id="rId22"/>
  </p:sldIdLst>
  <p:sldSz cx="16459200" cy="82296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A3FF"/>
    <a:srgbClr val="0000FF"/>
    <a:srgbClr val="FC64D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0" d="100"/>
          <a:sy n="60" d="100"/>
        </p:scale>
        <p:origin x="28" y="288"/>
      </p:cViewPr>
      <p:guideLst/>
    </p:cSldViewPr>
  </p:slideViewPr>
  <p:notesTextViewPr>
    <p:cViewPr>
      <p:scale>
        <a:sx n="3" d="2"/>
        <a:sy n="3" d="2"/>
      </p:scale>
      <p:origin x="0" y="0"/>
    </p:cViewPr>
  </p:notesTextViewPr>
  <p:notesViewPr>
    <p:cSldViewPr snapToGrid="0">
      <p:cViewPr varScale="1">
        <p:scale>
          <a:sx n="62" d="100"/>
          <a:sy n="62" d="100"/>
        </p:scale>
        <p:origin x="3226" y="77"/>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handoutMaster" Target="handoutMasters/handout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29" Type="http://schemas.openxmlformats.org/officeDocument/2006/relationships/slide" Target="slides/slide8.xml"/><Relationship Id="rId30" Type="http://schemas.openxmlformats.org/officeDocument/2006/relationships/slide" Target="slides/slide13.xml"/><Relationship Id="rId31" Type="http://schemas.openxmlformats.org/officeDocument/2006/relationships/slide" Target="slides/slide1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9959C53-1F47-4EC3-BD04-DCF7D9853FE2}" type="datetimeFigureOut">
              <a:rPr lang="en-US" smtClean="0"/>
              <a:t>8/24/2026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5966561-935E-43F2-AA27-F6429D640CD0}" type="slidenum">
              <a:rPr lang="en-US" smtClean="0"/>
              <a:t>‹#›</a:t>
            </a:fld>
            <a:endParaRPr lang="en-US"/>
          </a:p>
        </p:txBody>
      </p:sp>
    </p:spTree>
    <p:extLst>
      <p:ext uri="{BB962C8B-B14F-4D97-AF65-F5344CB8AC3E}">
        <p14:creationId xmlns:p14="http://schemas.microsoft.com/office/powerpoint/2010/main" val="285837984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3753D4-FC42-4AF9-9F67-FF67B8A220EF}" type="datetimeFigureOut">
              <a:rPr lang="en-US" smtClean="0"/>
              <a:t>8/24/2026</a:t>
            </a:fld>
            <a:endParaRPr lang="en-US"/>
          </a:p>
        </p:txBody>
      </p:sp>
      <p:sp>
        <p:nvSpPr>
          <p:cNvPr id="4" name="Slide Image Placeholder 3"/>
          <p:cNvSpPr>
            <a:spLocks noGrp="1" noRot="1" noChangeAspect="1"/>
          </p:cNvSpPr>
          <p:nvPr>
            <p:ph type="sldImg" idx="2"/>
          </p:nvPr>
        </p:nvSpPr>
        <p:spPr>
          <a:xfrm>
            <a:off x="342900" y="1143000"/>
            <a:ext cx="61722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CD5281-AB0E-4AE5-96D1-620E2E6C6426}" type="slidenum">
              <a:rPr lang="en-US" smtClean="0"/>
              <a:t>‹#›</a:t>
            </a:fld>
            <a:endParaRPr lang="en-US"/>
          </a:p>
        </p:txBody>
      </p:sp>
    </p:spTree>
    <p:extLst>
      <p:ext uri="{BB962C8B-B14F-4D97-AF65-F5344CB8AC3E}">
        <p14:creationId xmlns:p14="http://schemas.microsoft.com/office/powerpoint/2010/main" val="3235946233"/>
      </p:ext>
    </p:extLst>
  </p:cSld>
  <p:clrMap bg1="lt1" tx1="dk1" bg2="lt2" tx2="dk2" accent1="accent1" accent2="accent2" accent3="accent3" accent4="accent4" accent5="accent5" accent6="accent6" hlink="hlink" folHlink="folHlink"/>
  <p:hf hdr="0" ftr="0" dt="0"/>
  <p:notesStyle>
    <a:lvl1pPr marL="0" algn="l" defTabSz="1185062" rtl="0" eaLnBrk="1" latinLnBrk="0" hangingPunct="1">
      <a:defRPr sz="1555" kern="1200">
        <a:solidFill>
          <a:schemeClr val="tx1"/>
        </a:solidFill>
        <a:latin typeface="+mn-lt"/>
        <a:ea typeface="+mn-ea"/>
        <a:cs typeface="+mn-cs"/>
      </a:defRPr>
    </a:lvl1pPr>
    <a:lvl2pPr marL="592531" algn="l" defTabSz="1185062" rtl="0" eaLnBrk="1" latinLnBrk="0" hangingPunct="1">
      <a:defRPr sz="1555" kern="1200">
        <a:solidFill>
          <a:schemeClr val="tx1"/>
        </a:solidFill>
        <a:latin typeface="+mn-lt"/>
        <a:ea typeface="+mn-ea"/>
        <a:cs typeface="+mn-cs"/>
      </a:defRPr>
    </a:lvl2pPr>
    <a:lvl3pPr marL="1185062" algn="l" defTabSz="1185062" rtl="0" eaLnBrk="1" latinLnBrk="0" hangingPunct="1">
      <a:defRPr sz="1555" kern="1200">
        <a:solidFill>
          <a:schemeClr val="tx1"/>
        </a:solidFill>
        <a:latin typeface="+mn-lt"/>
        <a:ea typeface="+mn-ea"/>
        <a:cs typeface="+mn-cs"/>
      </a:defRPr>
    </a:lvl3pPr>
    <a:lvl4pPr marL="1777594" algn="l" defTabSz="1185062" rtl="0" eaLnBrk="1" latinLnBrk="0" hangingPunct="1">
      <a:defRPr sz="1555" kern="1200">
        <a:solidFill>
          <a:schemeClr val="tx1"/>
        </a:solidFill>
        <a:latin typeface="+mn-lt"/>
        <a:ea typeface="+mn-ea"/>
        <a:cs typeface="+mn-cs"/>
      </a:defRPr>
    </a:lvl4pPr>
    <a:lvl5pPr marL="2370125" algn="l" defTabSz="1185062" rtl="0" eaLnBrk="1" latinLnBrk="0" hangingPunct="1">
      <a:defRPr sz="1555" kern="1200">
        <a:solidFill>
          <a:schemeClr val="tx1"/>
        </a:solidFill>
        <a:latin typeface="+mn-lt"/>
        <a:ea typeface="+mn-ea"/>
        <a:cs typeface="+mn-cs"/>
      </a:defRPr>
    </a:lvl5pPr>
    <a:lvl6pPr marL="2962656" algn="l" defTabSz="1185062" rtl="0" eaLnBrk="1" latinLnBrk="0" hangingPunct="1">
      <a:defRPr sz="1555" kern="1200">
        <a:solidFill>
          <a:schemeClr val="tx1"/>
        </a:solidFill>
        <a:latin typeface="+mn-lt"/>
        <a:ea typeface="+mn-ea"/>
        <a:cs typeface="+mn-cs"/>
      </a:defRPr>
    </a:lvl6pPr>
    <a:lvl7pPr marL="3555187" algn="l" defTabSz="1185062" rtl="0" eaLnBrk="1" latinLnBrk="0" hangingPunct="1">
      <a:defRPr sz="1555" kern="1200">
        <a:solidFill>
          <a:schemeClr val="tx1"/>
        </a:solidFill>
        <a:latin typeface="+mn-lt"/>
        <a:ea typeface="+mn-ea"/>
        <a:cs typeface="+mn-cs"/>
      </a:defRPr>
    </a:lvl7pPr>
    <a:lvl8pPr marL="4147718" algn="l" defTabSz="1185062" rtl="0" eaLnBrk="1" latinLnBrk="0" hangingPunct="1">
      <a:defRPr sz="1555" kern="1200">
        <a:solidFill>
          <a:schemeClr val="tx1"/>
        </a:solidFill>
        <a:latin typeface="+mn-lt"/>
        <a:ea typeface="+mn-ea"/>
        <a:cs typeface="+mn-cs"/>
      </a:defRPr>
    </a:lvl8pPr>
    <a:lvl9pPr marL="4740250" algn="l" defTabSz="1185062" rtl="0" eaLnBrk="1" latinLnBrk="0" hangingPunct="1">
      <a:defRPr sz="1555"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057400" y="1346836"/>
            <a:ext cx="12344400" cy="2865120"/>
          </a:xfrm>
        </p:spPr>
        <p:txBody>
          <a:bodyPr anchor="b"/>
          <a:lstStyle>
            <a:lvl1pPr algn="ctr">
              <a:defRPr sz="7200"/>
            </a:lvl1pPr>
          </a:lstStyle>
          <a:p>
            <a:r>
              <a:rPr lang="en-US"/>
              <a:t>Click to edit Master title style</a:t>
            </a:r>
            <a:endParaRPr lang="en-US" dirty="0"/>
          </a:p>
        </p:txBody>
      </p:sp>
      <p:sp>
        <p:nvSpPr>
          <p:cNvPr id="3" name="Subtitle 2"/>
          <p:cNvSpPr>
            <a:spLocks noGrp="1"/>
          </p:cNvSpPr>
          <p:nvPr>
            <p:ph type="subTitle" idx="1"/>
          </p:nvPr>
        </p:nvSpPr>
        <p:spPr>
          <a:xfrm>
            <a:off x="2057400" y="4322446"/>
            <a:ext cx="12344400" cy="1986914"/>
          </a:xfrm>
        </p:spPr>
        <p:txBody>
          <a:bodyPr/>
          <a:lstStyle>
            <a:lvl1pPr marL="0" indent="0" algn="ctr">
              <a:buNone/>
              <a:defRPr sz="288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endParaRPr lang="en-US" dirty="0"/>
          </a:p>
        </p:txBody>
      </p:sp>
      <p:sp>
        <p:nvSpPr>
          <p:cNvPr id="4" name="Date Placeholder 3"/>
          <p:cNvSpPr>
            <a:spLocks noGrp="1"/>
          </p:cNvSpPr>
          <p:nvPr>
            <p:ph type="dt" sz="half" idx="10"/>
          </p:nvPr>
        </p:nvSpPr>
        <p:spPr>
          <a:xfrm>
            <a:off x="10521" y="7950630"/>
            <a:ext cx="3703320" cy="278969"/>
          </a:xfrm>
          <a:prstGeom prst="rect">
            <a:avLst/>
          </a:prstGeom>
        </p:spPr>
        <p:txBody>
          <a:bodyPr/>
          <a:lstStyle>
            <a:lvl1pPr>
              <a:defRPr>
                <a:solidFill>
                  <a:srgbClr val="0070C0"/>
                </a:solidFill>
              </a:defRPr>
            </a:lvl1pPr>
          </a:lstStyle>
          <a:p>
            <a:fld id="{9C7E231E-CA56-4BC7-92DB-F0B5D1EFC190}" type="datetime3">
              <a:rPr lang="en-US" smtClean="0"/>
              <a:t>24 August 2026</a:t>
            </a:fld>
            <a:endParaRPr lang="en-US" dirty="0"/>
          </a:p>
        </p:txBody>
      </p:sp>
      <p:sp>
        <p:nvSpPr>
          <p:cNvPr id="5" name="Footer Placeholder 4"/>
          <p:cNvSpPr>
            <a:spLocks noGrp="1"/>
          </p:cNvSpPr>
          <p:nvPr>
            <p:ph type="ftr" sz="quarter" idx="11"/>
          </p:nvPr>
        </p:nvSpPr>
        <p:spPr>
          <a:xfrm>
            <a:off x="5452110" y="7950630"/>
            <a:ext cx="5554980" cy="267212"/>
          </a:xfrm>
          <a:prstGeom prst="rect">
            <a:avLst/>
          </a:prstGeom>
        </p:spPr>
        <p:txBody>
          <a:bodyPr/>
          <a:lstStyle>
            <a:lvl1pPr>
              <a:defRPr sz="1600">
                <a:solidFill>
                  <a:srgbClr val="0070C0"/>
                </a:solidFill>
              </a:defRPr>
            </a:lvl1pPr>
          </a:lstStyle>
          <a:p>
            <a:r>
              <a:rPr lang="en-US" dirty="0"/>
              <a:t>Course Teacher: Prof. Dr. Engr. </a:t>
            </a:r>
            <a:r>
              <a:rPr lang="en-US" dirty="0" err="1"/>
              <a:t>Muhibul</a:t>
            </a:r>
            <a:r>
              <a:rPr lang="en-US" dirty="0"/>
              <a:t> </a:t>
            </a:r>
            <a:r>
              <a:rPr lang="en-US" dirty="0" err="1"/>
              <a:t>Haque</a:t>
            </a:r>
            <a:r>
              <a:rPr lang="en-US" dirty="0"/>
              <a:t> </a:t>
            </a:r>
            <a:r>
              <a:rPr lang="en-US" dirty="0" err="1"/>
              <a:t>Bhuyan</a:t>
            </a:r>
            <a:endParaRPr lang="en-US" dirty="0"/>
          </a:p>
        </p:txBody>
      </p:sp>
      <p:sp>
        <p:nvSpPr>
          <p:cNvPr id="6" name="Slide Number Placeholder 5"/>
          <p:cNvSpPr>
            <a:spLocks noGrp="1"/>
          </p:cNvSpPr>
          <p:nvPr>
            <p:ph type="sldNum" sz="quarter" idx="12"/>
          </p:nvPr>
        </p:nvSpPr>
        <p:spPr>
          <a:xfrm>
            <a:off x="14401799" y="7950630"/>
            <a:ext cx="2031381" cy="278970"/>
          </a:xfrm>
          <a:prstGeom prst="rect">
            <a:avLst/>
          </a:prstGeom>
        </p:spPr>
        <p:txBody>
          <a:bodyPr/>
          <a:lstStyle>
            <a:lvl1pPr>
              <a:defRPr>
                <a:solidFill>
                  <a:srgbClr val="0070C0"/>
                </a:solidFill>
              </a:defRPr>
            </a:lvl1pPr>
          </a:lstStyle>
          <a:p>
            <a:fld id="{48F63A3B-78C7-47BE-AE5E-E10140E04643}" type="slidenum">
              <a:rPr lang="en-US" smtClean="0"/>
              <a:pPr/>
              <a:t>‹#›</a:t>
            </a:fld>
            <a:endParaRPr lang="en-US" dirty="0"/>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23" y="11981"/>
            <a:ext cx="1415536" cy="1334855"/>
          </a:xfrm>
          <a:prstGeom prst="rect">
            <a:avLst/>
          </a:prstGeom>
        </p:spPr>
      </p:pic>
      <p:sp>
        <p:nvSpPr>
          <p:cNvPr id="8" name="TextBox 7"/>
          <p:cNvSpPr txBox="1"/>
          <p:nvPr userDrawn="1"/>
        </p:nvSpPr>
        <p:spPr>
          <a:xfrm>
            <a:off x="1426059" y="10898"/>
            <a:ext cx="15007121" cy="1138773"/>
          </a:xfrm>
          <a:prstGeom prst="rect">
            <a:avLst/>
          </a:prstGeom>
          <a:noFill/>
        </p:spPr>
        <p:txBody>
          <a:bodyPr wrap="square" rtlCol="0">
            <a:spAutoFit/>
          </a:bodyPr>
          <a:lstStyle/>
          <a:p>
            <a:pPr algn="l"/>
            <a:r>
              <a:rPr lang="en-US" sz="4400" b="1" dirty="0">
                <a:solidFill>
                  <a:schemeClr val="accent1">
                    <a:lumMod val="75000"/>
                  </a:schemeClr>
                </a:solidFill>
              </a:rPr>
              <a:t>AMERICAN INTERNATIONAL UNIVERSITY-BANGLADESH</a:t>
            </a:r>
          </a:p>
          <a:p>
            <a:pPr algn="l"/>
            <a:r>
              <a:rPr lang="en-US" sz="2400" dirty="0">
                <a:solidFill>
                  <a:srgbClr val="0070C0"/>
                </a:solidFill>
              </a:rPr>
              <a:t>Where leaders are created</a:t>
            </a:r>
          </a:p>
        </p:txBody>
      </p:sp>
    </p:spTree>
    <p:extLst>
      <p:ext uri="{BB962C8B-B14F-4D97-AF65-F5344CB8AC3E}">
        <p14:creationId xmlns:p14="http://schemas.microsoft.com/office/powerpoint/2010/main" val="40497159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16274" y="7919634"/>
            <a:ext cx="2788920" cy="309966"/>
          </a:xfrm>
          <a:prstGeom prst="rect">
            <a:avLst/>
          </a:prstGeom>
        </p:spPr>
        <p:txBody>
          <a:bodyPr/>
          <a:lstStyle>
            <a:lvl1pPr>
              <a:defRPr sz="1400">
                <a:solidFill>
                  <a:srgbClr val="0070C0"/>
                </a:solidFill>
              </a:defRPr>
            </a:lvl1pPr>
          </a:lstStyle>
          <a:p>
            <a:fld id="{CBE03706-832F-4E99-98D6-95C6393A057E}" type="datetime3">
              <a:rPr lang="en-US" smtClean="0"/>
              <a:t>24 August 2026</a:t>
            </a:fld>
            <a:endParaRPr lang="en-US"/>
          </a:p>
        </p:txBody>
      </p:sp>
      <p:sp>
        <p:nvSpPr>
          <p:cNvPr id="5" name="Footer Placeholder 4"/>
          <p:cNvSpPr>
            <a:spLocks noGrp="1"/>
          </p:cNvSpPr>
          <p:nvPr>
            <p:ph type="ftr" sz="quarter" idx="11"/>
          </p:nvPr>
        </p:nvSpPr>
        <p:spPr>
          <a:xfrm>
            <a:off x="5452110" y="7919634"/>
            <a:ext cx="6636568" cy="325464"/>
          </a:xfrm>
          <a:prstGeom prst="rect">
            <a:avLst/>
          </a:prstGeom>
        </p:spPr>
        <p:txBody>
          <a:bodyPr/>
          <a:lstStyle>
            <a:lvl1pPr>
              <a:defRPr sz="1600">
                <a:solidFill>
                  <a:srgbClr val="0070C0"/>
                </a:solidFill>
              </a:defRPr>
            </a:lvl1pPr>
          </a:lstStyle>
          <a:p>
            <a:r>
              <a:rPr lang="en-US"/>
              <a:t>Course Teacher: Prof. Dr. Engr. Muhibul Haque Bhuyan</a:t>
            </a:r>
            <a:endParaRPr lang="en-US" dirty="0"/>
          </a:p>
        </p:txBody>
      </p:sp>
      <p:sp>
        <p:nvSpPr>
          <p:cNvPr id="6" name="Slide Number Placeholder 5"/>
          <p:cNvSpPr>
            <a:spLocks noGrp="1"/>
          </p:cNvSpPr>
          <p:nvPr>
            <p:ph type="sldNum" sz="quarter" idx="12"/>
          </p:nvPr>
        </p:nvSpPr>
        <p:spPr>
          <a:xfrm>
            <a:off x="15141845" y="7919634"/>
            <a:ext cx="1317356" cy="290270"/>
          </a:xfrm>
          <a:prstGeom prst="rect">
            <a:avLst/>
          </a:prstGeom>
        </p:spPr>
        <p:txBody>
          <a:bodyPr/>
          <a:lstStyle>
            <a:lvl1pPr>
              <a:defRPr>
                <a:solidFill>
                  <a:srgbClr val="0070C0"/>
                </a:solidFill>
              </a:defRPr>
            </a:lvl1pPr>
          </a:lstStyle>
          <a:p>
            <a:fld id="{48F63A3B-78C7-47BE-AE5E-E10140E04643}" type="slidenum">
              <a:rPr lang="en-US" smtClean="0"/>
              <a:pPr/>
              <a:t>‹#›</a:t>
            </a:fld>
            <a:endParaRPr lang="en-US" dirty="0"/>
          </a:p>
        </p:txBody>
      </p:sp>
      <p:pic>
        <p:nvPicPr>
          <p:cNvPr id="7" name="Picture 6"/>
          <p:cNvPicPr>
            <a:picLocks noChangeAspect="1"/>
          </p:cNvPicPr>
          <p:nvPr userDrawn="1"/>
        </p:nvPicPr>
        <p:blipFill>
          <a:blip r:embed="rId2"/>
          <a:stretch>
            <a:fillRect/>
          </a:stretch>
        </p:blipFill>
        <p:spPr>
          <a:xfrm>
            <a:off x="0" y="18938"/>
            <a:ext cx="1689315" cy="645504"/>
          </a:xfrm>
          <a:prstGeom prst="rect">
            <a:avLst/>
          </a:prstGeom>
        </p:spPr>
      </p:pic>
      <p:sp>
        <p:nvSpPr>
          <p:cNvPr id="8" name="Rectangle 7"/>
          <p:cNvSpPr/>
          <p:nvPr userDrawn="1"/>
        </p:nvSpPr>
        <p:spPr>
          <a:xfrm>
            <a:off x="11256579" y="-16858"/>
            <a:ext cx="5220222" cy="46386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000" b="1" dirty="0">
                <a:solidFill>
                  <a:srgbClr val="FFFF00"/>
                </a:solidFill>
              </a:rPr>
              <a:t>Microprocessor and Embedded Systems Design</a:t>
            </a:r>
          </a:p>
        </p:txBody>
      </p:sp>
      <p:sp>
        <p:nvSpPr>
          <p:cNvPr id="9" name="TextBox 8"/>
          <p:cNvSpPr txBox="1"/>
          <p:nvPr userDrawn="1"/>
        </p:nvSpPr>
        <p:spPr>
          <a:xfrm>
            <a:off x="12241563" y="7635430"/>
            <a:ext cx="607859" cy="523220"/>
          </a:xfrm>
          <a:prstGeom prst="rect">
            <a:avLst/>
          </a:prstGeom>
          <a:noFill/>
        </p:spPr>
        <p:txBody>
          <a:bodyPr wrap="none" rtlCol="0">
            <a:spAutoFit/>
          </a:bodyPr>
          <a:lstStyle/>
          <a:p>
            <a:fld id="{4B2552B2-E763-405A-8E5A-B8DDC8F7B503}" type="slidenum">
              <a:rPr lang="en-US" sz="2800" smtClean="0">
                <a:solidFill>
                  <a:schemeClr val="bg1"/>
                </a:solidFill>
              </a:rPr>
              <a:t>‹#›</a:t>
            </a:fld>
            <a:endParaRPr lang="en-US" sz="2800" dirty="0">
              <a:solidFill>
                <a:schemeClr val="bg1"/>
              </a:solidFill>
            </a:endParaRPr>
          </a:p>
        </p:txBody>
      </p:sp>
    </p:spTree>
    <p:extLst>
      <p:ext uri="{BB962C8B-B14F-4D97-AF65-F5344CB8AC3E}">
        <p14:creationId xmlns:p14="http://schemas.microsoft.com/office/powerpoint/2010/main" val="4323048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
        <p:nvSpPr>
          <p:cNvPr id="3" name="Date Placeholder 3"/>
          <p:cNvSpPr txBox="1">
            <a:spLocks/>
          </p:cNvSpPr>
          <p:nvPr userDrawn="1"/>
        </p:nvSpPr>
        <p:spPr>
          <a:xfrm>
            <a:off x="16274" y="7919634"/>
            <a:ext cx="2788920" cy="309966"/>
          </a:xfrm>
          <a:prstGeom prst="rect">
            <a:avLst/>
          </a:prstGeom>
        </p:spPr>
        <p:txBody>
          <a:bodyPr vert="horz" lIns="91440" tIns="45720" rIns="91440" bIns="45720" rtlCol="0" anchor="ctr"/>
          <a:lstStyle>
            <a:defPPr>
              <a:defRPr lang="en-US"/>
            </a:defPPr>
            <a:lvl1pPr marL="0" algn="l" defTabSz="457200" rtl="0" eaLnBrk="1" latinLnBrk="0" hangingPunct="1">
              <a:defRPr sz="1400" kern="1200">
                <a:solidFill>
                  <a:srgbClr val="0070C0"/>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EB6A4FC-AAA1-4F41-A17E-7BE1ED99D460}" type="datetime3">
              <a:rPr lang="en-US" smtClean="0"/>
              <a:pPr/>
              <a:t>24 August 2026</a:t>
            </a:fld>
            <a:endParaRPr lang="en-US"/>
          </a:p>
        </p:txBody>
      </p:sp>
      <p:sp>
        <p:nvSpPr>
          <p:cNvPr id="4" name="Footer Placeholder 4"/>
          <p:cNvSpPr>
            <a:spLocks noGrp="1"/>
          </p:cNvSpPr>
          <p:nvPr>
            <p:ph type="ftr" sz="quarter" idx="11"/>
          </p:nvPr>
        </p:nvSpPr>
        <p:spPr>
          <a:xfrm>
            <a:off x="5452110" y="7919634"/>
            <a:ext cx="6636568" cy="325464"/>
          </a:xfrm>
          <a:prstGeom prst="rect">
            <a:avLst/>
          </a:prstGeom>
        </p:spPr>
        <p:txBody>
          <a:bodyPr/>
          <a:lstStyle>
            <a:lvl1pPr>
              <a:defRPr sz="1600">
                <a:solidFill>
                  <a:srgbClr val="0070C0"/>
                </a:solidFill>
              </a:defRPr>
            </a:lvl1pPr>
          </a:lstStyle>
          <a:p>
            <a:r>
              <a:rPr lang="en-US"/>
              <a:t>Course Teacher: Prof. Dr. Engr. Muhibul Haque Bhuyan</a:t>
            </a:r>
            <a:endParaRPr lang="en-US" dirty="0"/>
          </a:p>
        </p:txBody>
      </p:sp>
      <p:sp>
        <p:nvSpPr>
          <p:cNvPr id="5" name="Slide Number Placeholder 5"/>
          <p:cNvSpPr>
            <a:spLocks noGrp="1"/>
          </p:cNvSpPr>
          <p:nvPr>
            <p:ph type="sldNum" sz="quarter" idx="12"/>
          </p:nvPr>
        </p:nvSpPr>
        <p:spPr>
          <a:xfrm>
            <a:off x="15141845" y="7919634"/>
            <a:ext cx="1317356" cy="290270"/>
          </a:xfrm>
          <a:prstGeom prst="rect">
            <a:avLst/>
          </a:prstGeom>
        </p:spPr>
        <p:txBody>
          <a:bodyPr/>
          <a:lstStyle>
            <a:lvl1pPr>
              <a:defRPr>
                <a:solidFill>
                  <a:srgbClr val="0070C0"/>
                </a:solidFill>
              </a:defRPr>
            </a:lvl1pPr>
          </a:lstStyle>
          <a:p>
            <a:fld id="{48F63A3B-78C7-47BE-AE5E-E10140E04643}" type="slidenum">
              <a:rPr lang="en-US" smtClean="0"/>
              <a:pPr/>
              <a:t>‹#›</a:t>
            </a:fld>
            <a:endParaRPr lang="en-US" dirty="0"/>
          </a:p>
        </p:txBody>
      </p:sp>
      <p:pic>
        <p:nvPicPr>
          <p:cNvPr id="7" name="Picture 6"/>
          <p:cNvPicPr>
            <a:picLocks noChangeAspect="1"/>
          </p:cNvPicPr>
          <p:nvPr userDrawn="1"/>
        </p:nvPicPr>
        <p:blipFill>
          <a:blip r:embed="rId2"/>
          <a:stretch>
            <a:fillRect/>
          </a:stretch>
        </p:blipFill>
        <p:spPr>
          <a:xfrm>
            <a:off x="0" y="18938"/>
            <a:ext cx="1689315" cy="645504"/>
          </a:xfrm>
          <a:prstGeom prst="rect">
            <a:avLst/>
          </a:prstGeom>
        </p:spPr>
      </p:pic>
      <p:sp>
        <p:nvSpPr>
          <p:cNvPr id="9" name="Rectangle 8"/>
          <p:cNvSpPr/>
          <p:nvPr userDrawn="1"/>
        </p:nvSpPr>
        <p:spPr>
          <a:xfrm>
            <a:off x="11256579" y="-16858"/>
            <a:ext cx="5220222" cy="46386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000" b="1" dirty="0">
                <a:solidFill>
                  <a:srgbClr val="FFFF00"/>
                </a:solidFill>
              </a:rPr>
              <a:t>Microprocessor and Embedded Systems Design</a:t>
            </a:r>
          </a:p>
        </p:txBody>
      </p:sp>
    </p:spTree>
    <p:extLst>
      <p:ext uri="{BB962C8B-B14F-4D97-AF65-F5344CB8AC3E}">
        <p14:creationId xmlns:p14="http://schemas.microsoft.com/office/powerpoint/2010/main" val="394153403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31570" y="438150"/>
            <a:ext cx="14196060" cy="159067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31570" y="2190750"/>
            <a:ext cx="14196060" cy="5221606"/>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4"/>
          <p:cNvSpPr>
            <a:spLocks noGrp="1"/>
          </p:cNvSpPr>
          <p:nvPr>
            <p:ph type="ftr" sz="quarter" idx="3"/>
          </p:nvPr>
        </p:nvSpPr>
        <p:spPr>
          <a:xfrm>
            <a:off x="5452110" y="7950630"/>
            <a:ext cx="5554980" cy="267212"/>
          </a:xfrm>
          <a:prstGeom prst="rect">
            <a:avLst/>
          </a:prstGeom>
        </p:spPr>
        <p:txBody>
          <a:bodyPr/>
          <a:lstStyle>
            <a:lvl1pPr algn="ctr">
              <a:defRPr sz="1600">
                <a:solidFill>
                  <a:srgbClr val="0070C0"/>
                </a:solidFill>
              </a:defRPr>
            </a:lvl1pPr>
          </a:lstStyle>
          <a:p>
            <a:r>
              <a:rPr lang="en-US"/>
              <a:t>Course Teacher: Prof. Dr. Engr. Muhibul Haque Bhuyan</a:t>
            </a:r>
            <a:endParaRPr lang="en-US" dirty="0"/>
          </a:p>
        </p:txBody>
      </p:sp>
      <p:sp>
        <p:nvSpPr>
          <p:cNvPr id="8" name="Date Placeholder 3"/>
          <p:cNvSpPr>
            <a:spLocks noGrp="1"/>
          </p:cNvSpPr>
          <p:nvPr>
            <p:ph type="dt" sz="half" idx="2"/>
          </p:nvPr>
        </p:nvSpPr>
        <p:spPr>
          <a:xfrm>
            <a:off x="10521" y="7950630"/>
            <a:ext cx="3703320" cy="278969"/>
          </a:xfrm>
          <a:prstGeom prst="rect">
            <a:avLst/>
          </a:prstGeom>
        </p:spPr>
        <p:txBody>
          <a:bodyPr/>
          <a:lstStyle>
            <a:lvl1pPr>
              <a:defRPr>
                <a:solidFill>
                  <a:srgbClr val="0070C0"/>
                </a:solidFill>
              </a:defRPr>
            </a:lvl1pPr>
          </a:lstStyle>
          <a:p>
            <a:fld id="{9C7E231E-CA56-4BC7-92DB-F0B5D1EFC190}" type="datetime3">
              <a:rPr lang="en-US" smtClean="0"/>
              <a:t>24 August 2026</a:t>
            </a:fld>
            <a:endParaRPr lang="en-US" dirty="0"/>
          </a:p>
        </p:txBody>
      </p:sp>
      <p:sp>
        <p:nvSpPr>
          <p:cNvPr id="9" name="Slide Number Placeholder 5"/>
          <p:cNvSpPr>
            <a:spLocks noGrp="1"/>
          </p:cNvSpPr>
          <p:nvPr>
            <p:ph type="sldNum" sz="quarter" idx="4"/>
          </p:nvPr>
        </p:nvSpPr>
        <p:spPr>
          <a:xfrm>
            <a:off x="14401799" y="7950630"/>
            <a:ext cx="2031381" cy="278970"/>
          </a:xfrm>
          <a:prstGeom prst="rect">
            <a:avLst/>
          </a:prstGeom>
        </p:spPr>
        <p:txBody>
          <a:bodyPr/>
          <a:lstStyle>
            <a:lvl1pPr algn="r">
              <a:defRPr>
                <a:solidFill>
                  <a:srgbClr val="0070C0"/>
                </a:solidFill>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63716522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hf hdr="0" ftr="0"/>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jpeg"/><Relationship Id="rId3" Type="http://schemas.openxmlformats.org/officeDocument/2006/relationships/image" Target="../media/image4.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jpeg"/><Relationship Id="rId3" Type="http://schemas.openxmlformats.org/officeDocument/2006/relationships/image" Target="../media/image1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jpeg"/><Relationship Id="rId3"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jpeg"/><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jpeg"/><Relationship Id="rId3" Type="http://schemas.openxmlformats.org/officeDocument/2006/relationships/image" Target="../media/image5.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jpeg"/><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jpeg"/><Relationship Id="rId3" Type="http://schemas.openxmlformats.org/officeDocument/2006/relationships/image" Target="../media/image7.png"/><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jpeg"/><Relationship Id="rId3" Type="http://schemas.openxmlformats.org/officeDocument/2006/relationships/image" Target="../media/image8.emf"/><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3F83542-990E-4AD7-9205-9BAC0D2B3160}"/>
              </a:ext>
            </a:extLst>
          </p:cNvPr>
          <p:cNvSpPr>
            <a:spLocks noGrp="1"/>
          </p:cNvSpPr>
          <p:nvPr>
            <p:ph type="ctrTitle"/>
          </p:nvPr>
        </p:nvSpPr>
        <p:spPr>
          <a:xfrm>
            <a:off x="365759" y="1496293"/>
            <a:ext cx="15893935" cy="1610322"/>
          </a:xfrm>
        </p:spPr>
        <p:txBody>
          <a:bodyPr anchor="t">
            <a:noAutofit/>
          </a:bodyPr>
          <a:lstStyle/>
          <a:p>
            <a:r>
              <a:rPr lang="en-US" sz="5400" b="1" dirty="0">
                <a:solidFill>
                  <a:srgbClr val="0070C0"/>
                </a:solidFill>
              </a:rPr>
              <a:t>IoT-Based Automated Tropical Terrarium Using ESP32</a:t>
            </a:r>
            <a:endParaRPr lang="en-US" sz="4400" b="1" dirty="0">
              <a:solidFill>
                <a:srgbClr val="0070C0"/>
              </a:solidFill>
            </a:endParaRPr>
          </a:p>
        </p:txBody>
      </p:sp>
      <p:sp>
        <p:nvSpPr>
          <p:cNvPr id="3" name="Rectangle 8"/>
          <p:cNvSpPr>
            <a:spLocks noChangeArrowheads="1"/>
          </p:cNvSpPr>
          <p:nvPr/>
        </p:nvSpPr>
        <p:spPr bwMode="auto">
          <a:xfrm>
            <a:off x="3695643" y="3811510"/>
            <a:ext cx="8305800" cy="111218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GB" altLang="en-US" sz="2400" b="1" dirty="0">
                <a:solidFill>
                  <a:srgbClr val="00B050"/>
                </a:solidFill>
              </a:rPr>
              <a:t>Course Teacher: DEBRAJ DAS</a:t>
            </a:r>
          </a:p>
          <a:p>
            <a:pPr algn="ctr" eaLnBrk="1" hangingPunct="1"/>
            <a:r>
              <a:rPr lang="en-GB" altLang="en-US" sz="2000" dirty="0">
                <a:solidFill>
                  <a:srgbClr val="00B050"/>
                </a:solidFill>
              </a:rPr>
              <a:t>Lecturer</a:t>
            </a:r>
          </a:p>
          <a:p>
            <a:pPr algn="ctr" eaLnBrk="1" hangingPunct="1"/>
            <a:r>
              <a:rPr lang="en-GB" altLang="en-US" sz="2000" dirty="0">
                <a:solidFill>
                  <a:srgbClr val="00B050"/>
                </a:solidFill>
              </a:rPr>
              <a:t>Department of Electrical and Electronic Engineering</a:t>
            </a:r>
          </a:p>
        </p:txBody>
      </p:sp>
      <p:graphicFrame>
        <p:nvGraphicFramePr>
          <p:cNvPr id="2" name="Table 1"/>
          <p:cNvGraphicFramePr>
            <a:graphicFrameLocks noGrp="1"/>
          </p:cNvGraphicFramePr>
          <p:nvPr>
            <p:extLst>
              <p:ext uri="{D42A27DB-BD31-4B8C-83A1-F6EECF244321}">
                <p14:modId xmlns:p14="http://schemas.microsoft.com/office/powerpoint/2010/main" val="4031762815"/>
              </p:ext>
            </p:extLst>
          </p:nvPr>
        </p:nvGraphicFramePr>
        <p:xfrm>
          <a:off x="659786" y="4996918"/>
          <a:ext cx="15359148" cy="2743200"/>
        </p:xfrm>
        <a:graphic>
          <a:graphicData uri="http://schemas.openxmlformats.org/drawingml/2006/table">
            <a:tbl>
              <a:tblPr firstRow="1" bandRow="1">
                <a:tableStyleId>{5C22544A-7EE6-4342-B048-85BDC9FD1C3A}</a:tableStyleId>
              </a:tblPr>
              <a:tblGrid>
                <a:gridCol w="1137392">
                  <a:extLst>
                    <a:ext uri="{9D8B030D-6E8A-4147-A177-3AD203B41FA5}">
                      <a16:colId xmlns:a16="http://schemas.microsoft.com/office/drawing/2014/main" val="2913403265"/>
                    </a:ext>
                  </a:extLst>
                </a:gridCol>
                <a:gridCol w="2259007">
                  <a:extLst>
                    <a:ext uri="{9D8B030D-6E8A-4147-A177-3AD203B41FA5}">
                      <a16:colId xmlns:a16="http://schemas.microsoft.com/office/drawing/2014/main" val="241213375"/>
                    </a:ext>
                  </a:extLst>
                </a:gridCol>
                <a:gridCol w="5919804">
                  <a:extLst>
                    <a:ext uri="{9D8B030D-6E8A-4147-A177-3AD203B41FA5}">
                      <a16:colId xmlns:a16="http://schemas.microsoft.com/office/drawing/2014/main" val="1138891670"/>
                    </a:ext>
                  </a:extLst>
                </a:gridCol>
                <a:gridCol w="1934657">
                  <a:extLst>
                    <a:ext uri="{9D8B030D-6E8A-4147-A177-3AD203B41FA5}">
                      <a16:colId xmlns:a16="http://schemas.microsoft.com/office/drawing/2014/main" val="1055295908"/>
                    </a:ext>
                  </a:extLst>
                </a:gridCol>
                <a:gridCol w="1359877">
                  <a:extLst>
                    <a:ext uri="{9D8B030D-6E8A-4147-A177-3AD203B41FA5}">
                      <a16:colId xmlns:a16="http://schemas.microsoft.com/office/drawing/2014/main" val="4294604628"/>
                    </a:ext>
                  </a:extLst>
                </a:gridCol>
                <a:gridCol w="2748411">
                  <a:extLst>
                    <a:ext uri="{9D8B030D-6E8A-4147-A177-3AD203B41FA5}">
                      <a16:colId xmlns:a16="http://schemas.microsoft.com/office/drawing/2014/main" val="4041962228"/>
                    </a:ext>
                  </a:extLst>
                </a:gridCol>
              </a:tblGrid>
              <a:tr h="358251">
                <a:tc>
                  <a:txBody>
                    <a:bodyPr/>
                    <a:lstStyle/>
                    <a:p>
                      <a:pPr marL="0" marR="0" lvl="0" indent="0" algn="ctr" defTabSz="1097280" rtl="0" eaLnBrk="1" fontAlgn="auto" latinLnBrk="0" hangingPunct="1">
                        <a:lnSpc>
                          <a:spcPct val="100000"/>
                        </a:lnSpc>
                        <a:spcBef>
                          <a:spcPts val="0"/>
                        </a:spcBef>
                        <a:spcAft>
                          <a:spcPts val="0"/>
                        </a:spcAft>
                        <a:buClrTx/>
                        <a:buSzTx/>
                        <a:buFontTx/>
                        <a:buNone/>
                        <a:tabLst/>
                        <a:defRPr/>
                      </a:pPr>
                      <a:r>
                        <a:rPr lang="en-GB" altLang="en-US" sz="2400" b="1" i="1" dirty="0">
                          <a:solidFill>
                            <a:schemeClr val="bg1"/>
                          </a:solidFill>
                        </a:rPr>
                        <a:t>SL #</a:t>
                      </a:r>
                      <a:endParaRPr lang="en-GB" altLang="en-US" sz="2400" b="1" i="1" baseline="30000" dirty="0">
                        <a:solidFill>
                          <a:schemeClr val="bg1"/>
                        </a:solidFill>
                      </a:endParaRPr>
                    </a:p>
                  </a:txBody>
                  <a:tcPr anchor="ctr"/>
                </a:tc>
                <a:tc>
                  <a:txBody>
                    <a:bodyPr/>
                    <a:lstStyle/>
                    <a:p>
                      <a:pPr marL="0" marR="0" lvl="0" indent="0" algn="ctr" defTabSz="1097280" rtl="0" eaLnBrk="1" fontAlgn="auto" latinLnBrk="0" hangingPunct="1">
                        <a:lnSpc>
                          <a:spcPct val="100000"/>
                        </a:lnSpc>
                        <a:spcBef>
                          <a:spcPts val="0"/>
                        </a:spcBef>
                        <a:spcAft>
                          <a:spcPts val="0"/>
                        </a:spcAft>
                        <a:buClrTx/>
                        <a:buSzTx/>
                        <a:buFontTx/>
                        <a:buNone/>
                        <a:tabLst/>
                        <a:defRPr/>
                      </a:pPr>
                      <a:r>
                        <a:rPr lang="en-GB" altLang="en-US" sz="2400" b="1" i="1" dirty="0">
                          <a:solidFill>
                            <a:schemeClr val="bg1"/>
                          </a:solidFill>
                        </a:rPr>
                        <a:t>Students ID</a:t>
                      </a:r>
                      <a:endParaRPr lang="en-GB" altLang="en-US" sz="2400" b="1" i="1" baseline="30000" dirty="0">
                        <a:solidFill>
                          <a:schemeClr val="bg1"/>
                        </a:solidFill>
                      </a:endParaRPr>
                    </a:p>
                  </a:txBody>
                  <a:tcPr anchor="ctr"/>
                </a:tc>
                <a:tc>
                  <a:txBody>
                    <a:bodyPr/>
                    <a:lstStyle/>
                    <a:p>
                      <a:pPr marL="0" marR="0" lvl="0" indent="0" algn="ctr" defTabSz="1097280" rtl="0" eaLnBrk="1" fontAlgn="auto" latinLnBrk="0" hangingPunct="1">
                        <a:lnSpc>
                          <a:spcPct val="100000"/>
                        </a:lnSpc>
                        <a:spcBef>
                          <a:spcPts val="0"/>
                        </a:spcBef>
                        <a:spcAft>
                          <a:spcPts val="0"/>
                        </a:spcAft>
                        <a:buClrTx/>
                        <a:buSzTx/>
                        <a:buFontTx/>
                        <a:buNone/>
                        <a:tabLst/>
                        <a:defRPr/>
                      </a:pPr>
                      <a:r>
                        <a:rPr lang="en-GB" altLang="en-US" sz="2400" b="1" i="1" dirty="0">
                          <a:solidFill>
                            <a:schemeClr val="bg1"/>
                          </a:solidFill>
                        </a:rPr>
                        <a:t>Students Name</a:t>
                      </a:r>
                      <a:endParaRPr lang="en-GB" altLang="en-US" sz="2400" b="1" i="1" baseline="30000" dirty="0">
                        <a:solidFill>
                          <a:schemeClr val="bg1"/>
                        </a:solidFill>
                      </a:endParaRPr>
                    </a:p>
                  </a:txBody>
                  <a:tcPr anchor="ctr"/>
                </a:tc>
                <a:tc>
                  <a:txBody>
                    <a:bodyPr/>
                    <a:lstStyle/>
                    <a:p>
                      <a:pPr algn="ctr"/>
                      <a:r>
                        <a:rPr lang="en-US" sz="2400" i="1" dirty="0">
                          <a:solidFill>
                            <a:schemeClr val="bg1"/>
                          </a:solidFill>
                        </a:rPr>
                        <a:t>Program</a:t>
                      </a:r>
                    </a:p>
                  </a:txBody>
                  <a:tcPr anchor="ctr"/>
                </a:tc>
                <a:tc>
                  <a:txBody>
                    <a:bodyPr/>
                    <a:lstStyle/>
                    <a:p>
                      <a:pPr algn="ctr"/>
                      <a:r>
                        <a:rPr lang="en-US" sz="2400" i="1" dirty="0">
                          <a:solidFill>
                            <a:schemeClr val="bg1"/>
                          </a:solidFill>
                        </a:rPr>
                        <a:t>Section</a:t>
                      </a:r>
                    </a:p>
                  </a:txBody>
                  <a:tcPr anchor="ctr"/>
                </a:tc>
                <a:tc>
                  <a:txBody>
                    <a:bodyPr/>
                    <a:lstStyle/>
                    <a:p>
                      <a:pPr algn="ctr"/>
                      <a:r>
                        <a:rPr lang="en-US" sz="2400" i="1" dirty="0">
                          <a:solidFill>
                            <a:schemeClr val="bg1"/>
                          </a:solidFill>
                        </a:rPr>
                        <a:t>Signature</a:t>
                      </a:r>
                    </a:p>
                  </a:txBody>
                  <a:tcPr anchor="ctr"/>
                </a:tc>
                <a:extLst>
                  <a:ext uri="{0D108BD9-81ED-4DB2-BD59-A6C34878D82A}">
                    <a16:rowId xmlns:a16="http://schemas.microsoft.com/office/drawing/2014/main" val="4019669810"/>
                  </a:ext>
                </a:extLst>
              </a:tr>
              <a:tr h="370840">
                <a:tc>
                  <a:txBody>
                    <a:bodyPr/>
                    <a:lstStyle/>
                    <a:p>
                      <a:pPr algn="ctr"/>
                      <a:r>
                        <a:rPr lang="en-US" sz="2400" i="1" dirty="0">
                          <a:solidFill>
                            <a:schemeClr val="tx1"/>
                          </a:solidFill>
                        </a:rPr>
                        <a:t>1</a:t>
                      </a:r>
                    </a:p>
                  </a:txBody>
                  <a:tcPr anchor="ctr"/>
                </a:tc>
                <a:tc>
                  <a:txBody>
                    <a:bodyPr/>
                    <a:lstStyle/>
                    <a:p>
                      <a:pPr algn="ctr"/>
                      <a:r>
                        <a:rPr lang="en-US" sz="2400" i="1" dirty="0">
                          <a:solidFill>
                            <a:schemeClr val="tx1"/>
                          </a:solidFill>
                        </a:rPr>
                        <a:t>23-54520-3</a:t>
                      </a:r>
                    </a:p>
                  </a:txBody>
                  <a:tcPr anchor="ctr"/>
                </a:tc>
                <a:tc>
                  <a:txBody>
                    <a:bodyPr/>
                    <a:lstStyle/>
                    <a:p>
                      <a:pPr algn="ctr"/>
                      <a:r>
                        <a:rPr lang="en-US" sz="2400" i="1" dirty="0">
                          <a:solidFill>
                            <a:schemeClr val="tx1"/>
                          </a:solidFill>
                        </a:rPr>
                        <a:t>Kishor Tarafder</a:t>
                      </a:r>
                    </a:p>
                  </a:txBody>
                  <a:tcPr anchor="ctr"/>
                </a:tc>
                <a:tc>
                  <a:txBody>
                    <a:bodyPr/>
                    <a:lstStyle/>
                    <a:p>
                      <a:pPr algn="ctr"/>
                      <a:r>
                        <a:rPr lang="en-US" sz="2400" i="1" dirty="0">
                          <a:solidFill>
                            <a:schemeClr val="tx1"/>
                          </a:solidFill>
                        </a:rPr>
                        <a:t>BSc in CSE</a:t>
                      </a:r>
                    </a:p>
                  </a:txBody>
                  <a:tcPr anchor="ctr"/>
                </a:tc>
                <a:tc>
                  <a:txBody>
                    <a:bodyPr/>
                    <a:lstStyle/>
                    <a:p>
                      <a:pPr algn="ctr"/>
                      <a:r>
                        <a:rPr lang="en-US" sz="2400" i="1" dirty="0">
                          <a:solidFill>
                            <a:schemeClr val="tx1"/>
                          </a:solidFill>
                        </a:rPr>
                        <a:t/>
                      </a:r>
                    </a:p>
                  </a:txBody>
                  <a:tcPr anchor="ctr"/>
                </a:tc>
                <a:tc>
                  <a:txBody>
                    <a:bodyPr/>
                    <a:lstStyle/>
                    <a:p>
                      <a:pPr algn="ctr"/>
                      <a:endParaRPr lang="en-US" sz="2400" i="1" dirty="0">
                        <a:solidFill>
                          <a:schemeClr val="tx1"/>
                        </a:solidFill>
                      </a:endParaRPr>
                    </a:p>
                  </a:txBody>
                  <a:tcPr anchor="ctr"/>
                </a:tc>
                <a:extLst>
                  <a:ext uri="{0D108BD9-81ED-4DB2-BD59-A6C34878D82A}">
                    <a16:rowId xmlns:a16="http://schemas.microsoft.com/office/drawing/2014/main" val="3071807588"/>
                  </a:ext>
                </a:extLst>
              </a:tr>
              <a:tr h="370840">
                <a:tc>
                  <a:txBody>
                    <a:bodyPr/>
                    <a:lstStyle/>
                    <a:p>
                      <a:pPr algn="ctr"/>
                      <a:r>
                        <a:rPr lang="en-US" sz="2400" i="1" dirty="0">
                          <a:solidFill>
                            <a:schemeClr val="tx1"/>
                          </a:solidFill>
                        </a:rPr>
                        <a:t>2</a:t>
                      </a:r>
                    </a:p>
                  </a:txBody>
                  <a:tcPr anchor="ctr"/>
                </a:tc>
                <a:tc>
                  <a:txBody>
                    <a:bodyPr/>
                    <a:lstStyle/>
                    <a:p>
                      <a:pPr algn="ctr"/>
                      <a:r>
                        <a:rPr lang="en-US" sz="2400" i="1" dirty="0">
                          <a:solidFill>
                            <a:schemeClr val="tx1"/>
                          </a:solidFill>
                        </a:rPr>
                        <a:t>23-55027-3</a:t>
                      </a:r>
                    </a:p>
                  </a:txBody>
                  <a:tcPr anchor="ctr"/>
                </a:tc>
                <a:tc>
                  <a:txBody>
                    <a:bodyPr/>
                    <a:lstStyle/>
                    <a:p>
                      <a:pPr algn="ctr"/>
                      <a:r>
                        <a:rPr lang="en-US" sz="2400" i="1" dirty="0">
                          <a:solidFill>
                            <a:schemeClr val="tx1"/>
                          </a:solidFill>
                        </a:rPr>
                        <a:t>Tahomina Era</a:t>
                      </a:r>
                    </a:p>
                  </a:txBody>
                  <a:tcPr anchor="ctr"/>
                </a:tc>
                <a:tc>
                  <a:txBody>
                    <a:bodyPr/>
                    <a:lstStyle/>
                    <a:p>
                      <a:pPr algn="ctr"/>
                      <a:r>
                        <a:rPr lang="en-US" sz="2400" i="1" dirty="0">
                          <a:solidFill>
                            <a:schemeClr val="tx1"/>
                          </a:solidFill>
                        </a:rPr>
                        <a:t>BSc in CSE</a:t>
                      </a:r>
                    </a:p>
                  </a:txBody>
                  <a:tcPr anchor="ctr"/>
                </a:tc>
                <a:tc>
                  <a:txBody>
                    <a:bodyPr/>
                    <a:lstStyle/>
                    <a:p>
                      <a:pPr algn="ctr"/>
                      <a:r>
                        <a:rPr lang="en-US" sz="2400" i="1" dirty="0">
                          <a:solidFill>
                            <a:schemeClr val="tx1"/>
                          </a:solidFill>
                        </a:rPr>
                        <a:t/>
                      </a:r>
                    </a:p>
                  </a:txBody>
                  <a:tcPr anchor="ctr"/>
                </a:tc>
                <a:tc>
                  <a:txBody>
                    <a:bodyPr/>
                    <a:lstStyle/>
                    <a:p>
                      <a:pPr algn="ctr"/>
                      <a:endParaRPr lang="en-US" sz="2400" i="1" dirty="0">
                        <a:solidFill>
                          <a:schemeClr val="tx1"/>
                        </a:solidFill>
                      </a:endParaRPr>
                    </a:p>
                  </a:txBody>
                  <a:tcPr anchor="ctr"/>
                </a:tc>
                <a:extLst>
                  <a:ext uri="{0D108BD9-81ED-4DB2-BD59-A6C34878D82A}">
                    <a16:rowId xmlns:a16="http://schemas.microsoft.com/office/drawing/2014/main" val="76370253"/>
                  </a:ext>
                </a:extLst>
              </a:tr>
              <a:tr h="370840">
                <a:tc>
                  <a:txBody>
                    <a:bodyPr/>
                    <a:lstStyle/>
                    <a:p>
                      <a:pPr algn="ctr"/>
                      <a:r>
                        <a:rPr lang="en-US" sz="2400" i="1" dirty="0">
                          <a:solidFill>
                            <a:schemeClr val="tx1"/>
                          </a:solidFill>
                        </a:rPr>
                        <a:t>3</a:t>
                      </a:r>
                    </a:p>
                  </a:txBody>
                  <a:tcPr anchor="ctr"/>
                </a:tc>
                <a:tc>
                  <a:txBody>
                    <a:bodyPr/>
                    <a:lstStyle/>
                    <a:p>
                      <a:pPr algn="ctr"/>
                      <a:r>
                        <a:rPr lang="en-US" sz="2400" i="1" dirty="0">
                          <a:solidFill>
                            <a:schemeClr val="tx1"/>
                          </a:solidFill>
                        </a:rPr>
                        <a:t>23-54483-3</a:t>
                      </a:r>
                      <a:endParaRPr lang="en-US" sz="2400" i="1" dirty="0">
                        <a:solidFill>
                          <a:schemeClr val="tx1"/>
                        </a:solidFill>
                      </a:endParaRPr>
                    </a:p>
                  </a:txBody>
                  <a:tcPr anchor="ctr"/>
                </a:tc>
                <a:tc>
                  <a:txBody>
                    <a:bodyPr/>
                    <a:lstStyle/>
                    <a:p>
                      <a:pPr algn="ctr"/>
                      <a:r>
                        <a:rPr lang="en-US" sz="2400" i="1" dirty="0">
                          <a:solidFill>
                            <a:schemeClr val="tx1"/>
                          </a:solidFill>
                        </a:rPr>
                        <a:t>MD. Shakhawat Hossen</a:t>
                      </a:r>
                      <a:endParaRPr lang="en-US" sz="2400" i="1" dirty="0">
                        <a:solidFill>
                          <a:schemeClr val="tx1"/>
                        </a:solidFill>
                      </a:endParaRPr>
                    </a:p>
                  </a:txBody>
                  <a:tcPr anchor="ctr"/>
                </a:tc>
                <a:tc>
                  <a:txBody>
                    <a:bodyPr/>
                    <a:lstStyle/>
                    <a:p>
                      <a:pPr algn="ctr"/>
                      <a:r>
                        <a:rPr lang="en-US" sz="2400" i="1" dirty="0">
                          <a:solidFill>
                            <a:schemeClr val="tx1"/>
                          </a:solidFill>
                        </a:rPr>
                        <a:t>BSc in CSE</a:t>
                      </a:r>
                      <a:endParaRPr lang="en-US" sz="2400" i="1" dirty="0">
                        <a:solidFill>
                          <a:schemeClr val="tx1"/>
                        </a:solidFill>
                      </a:endParaRPr>
                    </a:p>
                  </a:txBody>
                  <a:tcPr anchor="ctr"/>
                </a:tc>
                <a:tc>
                  <a:txBody>
                    <a:bodyPr/>
                    <a:lstStyle/>
                    <a:p>
                      <a:pPr algn="ctr"/>
                      <a:endParaRPr lang="en-US" sz="2400" i="1" dirty="0">
                        <a:solidFill>
                          <a:schemeClr val="tx1"/>
                        </a:solidFill>
                      </a:endParaRPr>
                    </a:p>
                  </a:txBody>
                  <a:tcPr anchor="ctr"/>
                </a:tc>
                <a:tc>
                  <a:txBody>
                    <a:bodyPr/>
                    <a:lstStyle/>
                    <a:p>
                      <a:pPr algn="ctr"/>
                      <a:endParaRPr lang="en-US" sz="2400" i="1" dirty="0">
                        <a:solidFill>
                          <a:schemeClr val="tx1"/>
                        </a:solidFill>
                      </a:endParaRPr>
                    </a:p>
                  </a:txBody>
                  <a:tcPr anchor="ctr"/>
                </a:tc>
                <a:extLst>
                  <a:ext uri="{0D108BD9-81ED-4DB2-BD59-A6C34878D82A}">
                    <a16:rowId xmlns:a16="http://schemas.microsoft.com/office/drawing/2014/main" val="1221224331"/>
                  </a:ext>
                </a:extLst>
              </a:tr>
              <a:tr h="370840">
                <a:tc>
                  <a:txBody>
                    <a:bodyPr/>
                    <a:lstStyle/>
                    <a:p>
                      <a:pPr algn="ctr"/>
                      <a:r>
                        <a:rPr lang="en-US" sz="2400" i="1" dirty="0">
                          <a:solidFill>
                            <a:schemeClr val="tx1"/>
                          </a:solidFill>
                        </a:rPr>
                        <a:t>4</a:t>
                      </a:r>
                    </a:p>
                  </a:txBody>
                  <a:tcPr anchor="ctr"/>
                </a:tc>
                <a:tc>
                  <a:txBody>
                    <a:bodyPr/>
                    <a:lstStyle/>
                    <a:p>
                      <a:pPr algn="ctr"/>
                      <a:r>
                        <a:rPr lang="en-US" sz="2400" i="1" dirty="0">
                          <a:solidFill>
                            <a:schemeClr val="tx1"/>
                          </a:solidFill>
                        </a:rPr>
                        <a:t>23-54508-3</a:t>
                      </a:r>
                      <a:endParaRPr lang="en-US" sz="2400" i="1" dirty="0">
                        <a:solidFill>
                          <a:schemeClr val="tx1"/>
                        </a:solidFill>
                      </a:endParaRPr>
                    </a:p>
                  </a:txBody>
                  <a:tcPr anchor="ctr"/>
                </a:tc>
                <a:tc>
                  <a:txBody>
                    <a:bodyPr/>
                    <a:lstStyle/>
                    <a:p>
                      <a:pPr algn="ctr"/>
                      <a:r>
                        <a:rPr lang="en-US" sz="2400" i="1" dirty="0">
                          <a:solidFill>
                            <a:schemeClr val="tx1"/>
                          </a:solidFill>
                        </a:rPr>
                        <a:t>Avishek Saha</a:t>
                      </a:r>
                      <a:endParaRPr lang="en-US" sz="2400" i="1" dirty="0">
                        <a:solidFill>
                          <a:schemeClr val="tx1"/>
                        </a:solidFill>
                      </a:endParaRPr>
                    </a:p>
                  </a:txBody>
                  <a:tcPr anchor="ctr"/>
                </a:tc>
                <a:tc>
                  <a:txBody>
                    <a:bodyPr/>
                    <a:lstStyle/>
                    <a:p>
                      <a:pPr algn="ctr"/>
                      <a:r>
                        <a:rPr lang="en-US" sz="2400" i="1" dirty="0">
                          <a:solidFill>
                            <a:schemeClr val="tx1"/>
                          </a:solidFill>
                        </a:rPr>
                        <a:t>BSc in CSE</a:t>
                      </a:r>
                      <a:endParaRPr lang="en-US" sz="2400" i="1" dirty="0">
                        <a:solidFill>
                          <a:schemeClr val="tx1"/>
                        </a:solidFill>
                      </a:endParaRPr>
                    </a:p>
                  </a:txBody>
                  <a:tcPr anchor="ctr"/>
                </a:tc>
                <a:tc>
                  <a:txBody>
                    <a:bodyPr/>
                    <a:lstStyle/>
                    <a:p>
                      <a:pPr algn="ctr"/>
                      <a:endParaRPr lang="en-US" sz="2400" i="1" dirty="0">
                        <a:solidFill>
                          <a:schemeClr val="tx1"/>
                        </a:solidFill>
                      </a:endParaRPr>
                    </a:p>
                  </a:txBody>
                  <a:tcPr anchor="ctr"/>
                </a:tc>
                <a:tc>
                  <a:txBody>
                    <a:bodyPr/>
                    <a:lstStyle/>
                    <a:p>
                      <a:pPr algn="ctr"/>
                      <a:endParaRPr lang="en-US" sz="2400" i="1" dirty="0">
                        <a:solidFill>
                          <a:schemeClr val="tx1"/>
                        </a:solidFill>
                      </a:endParaRPr>
                    </a:p>
                  </a:txBody>
                  <a:tcPr anchor="ctr"/>
                </a:tc>
                <a:extLst>
                  <a:ext uri="{0D108BD9-81ED-4DB2-BD59-A6C34878D82A}">
                    <a16:rowId xmlns:a16="http://schemas.microsoft.com/office/drawing/2014/main" val="3652590490"/>
                  </a:ext>
                </a:extLst>
              </a:tr>
              <a:tr h="370840">
                <a:tc>
                  <a:txBody>
                    <a:bodyPr/>
                    <a:lstStyle/>
                    <a:p>
                      <a:pPr algn="ctr"/>
                      <a:r>
                        <a:rPr lang="en-US" sz="2400" i="1" dirty="0">
                          <a:solidFill>
                            <a:schemeClr val="tx1"/>
                          </a:solidFill>
                        </a:rPr>
                        <a:t>5</a:t>
                      </a:r>
                    </a:p>
                  </a:txBody>
                  <a:tcPr anchor="ctr"/>
                </a:tc>
                <a:tc>
                  <a:txBody>
                    <a:bodyPr/>
                    <a:lstStyle/>
                    <a:p>
                      <a:pPr algn="ctr"/>
                      <a:endParaRPr lang="en-US" sz="2400" i="1" dirty="0">
                        <a:solidFill>
                          <a:schemeClr val="tx1"/>
                        </a:solidFill>
                      </a:endParaRPr>
                    </a:p>
                  </a:txBody>
                  <a:tcPr anchor="ctr"/>
                </a:tc>
                <a:tc>
                  <a:txBody>
                    <a:bodyPr/>
                    <a:lstStyle/>
                    <a:p>
                      <a:pPr algn="ctr"/>
                      <a:endParaRPr lang="en-US" sz="2400" i="1" dirty="0">
                        <a:solidFill>
                          <a:schemeClr val="tx1"/>
                        </a:solidFill>
                      </a:endParaRPr>
                    </a:p>
                  </a:txBody>
                  <a:tcPr anchor="ctr"/>
                </a:tc>
                <a:tc>
                  <a:txBody>
                    <a:bodyPr/>
                    <a:lstStyle/>
                    <a:p>
                      <a:pPr algn="ctr"/>
                      <a:endParaRPr lang="en-US" sz="2400" i="1" dirty="0">
                        <a:solidFill>
                          <a:schemeClr val="tx1"/>
                        </a:solidFill>
                      </a:endParaRPr>
                    </a:p>
                  </a:txBody>
                  <a:tcPr anchor="ctr"/>
                </a:tc>
                <a:tc>
                  <a:txBody>
                    <a:bodyPr/>
                    <a:lstStyle/>
                    <a:p>
                      <a:pPr algn="ctr"/>
                      <a:endParaRPr lang="en-US" sz="2400" i="1" dirty="0">
                        <a:solidFill>
                          <a:schemeClr val="tx1"/>
                        </a:solidFill>
                      </a:endParaRPr>
                    </a:p>
                  </a:txBody>
                  <a:tcPr anchor="ctr"/>
                </a:tc>
                <a:tc>
                  <a:txBody>
                    <a:bodyPr/>
                    <a:lstStyle/>
                    <a:p>
                      <a:pPr algn="ctr"/>
                      <a:endParaRPr lang="en-US" sz="2400" i="1" dirty="0">
                        <a:solidFill>
                          <a:schemeClr val="tx1"/>
                        </a:solidFill>
                      </a:endParaRPr>
                    </a:p>
                  </a:txBody>
                  <a:tcPr anchor="ctr"/>
                </a:tc>
                <a:extLst>
                  <a:ext uri="{0D108BD9-81ED-4DB2-BD59-A6C34878D82A}">
                    <a16:rowId xmlns:a16="http://schemas.microsoft.com/office/drawing/2014/main" val="901570957"/>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917296077"/>
              </p:ext>
            </p:extLst>
          </p:nvPr>
        </p:nvGraphicFramePr>
        <p:xfrm>
          <a:off x="1303869" y="1105193"/>
          <a:ext cx="14715065" cy="451803"/>
        </p:xfrm>
        <a:graphic>
          <a:graphicData uri="http://schemas.openxmlformats.org/drawingml/2006/table">
            <a:tbl>
              <a:tblPr firstRow="1" firstCol="1" bandRow="1">
                <a:tableStyleId>{5C22544A-7EE6-4342-B048-85BDC9FD1C3A}</a:tableStyleId>
              </a:tblPr>
              <a:tblGrid>
                <a:gridCol w="2607320">
                  <a:extLst>
                    <a:ext uri="{9D8B030D-6E8A-4147-A177-3AD203B41FA5}">
                      <a16:colId xmlns:a16="http://schemas.microsoft.com/office/drawing/2014/main" val="3779552987"/>
                    </a:ext>
                  </a:extLst>
                </a:gridCol>
                <a:gridCol w="2607320">
                  <a:extLst>
                    <a:ext uri="{9D8B030D-6E8A-4147-A177-3AD203B41FA5}">
                      <a16:colId xmlns:a16="http://schemas.microsoft.com/office/drawing/2014/main" val="2030903817"/>
                    </a:ext>
                  </a:extLst>
                </a:gridCol>
                <a:gridCol w="2607320">
                  <a:extLst>
                    <a:ext uri="{9D8B030D-6E8A-4147-A177-3AD203B41FA5}">
                      <a16:colId xmlns:a16="http://schemas.microsoft.com/office/drawing/2014/main" val="1872060130"/>
                    </a:ext>
                  </a:extLst>
                </a:gridCol>
                <a:gridCol w="6893105">
                  <a:extLst>
                    <a:ext uri="{9D8B030D-6E8A-4147-A177-3AD203B41FA5}">
                      <a16:colId xmlns:a16="http://schemas.microsoft.com/office/drawing/2014/main" val="3948658697"/>
                    </a:ext>
                  </a:extLst>
                </a:gridCol>
              </a:tblGrid>
              <a:tr h="182880">
                <a:tc>
                  <a:txBody>
                    <a:bodyPr/>
                    <a:lstStyle/>
                    <a:p>
                      <a:pPr marL="0" marR="0" algn="just">
                        <a:lnSpc>
                          <a:spcPct val="107000"/>
                        </a:lnSpc>
                        <a:spcBef>
                          <a:spcPts val="0"/>
                        </a:spcBef>
                        <a:spcAft>
                          <a:spcPts val="0"/>
                        </a:spcAft>
                      </a:pPr>
                      <a:r>
                        <a:rPr lang="en-US" sz="2800" dirty="0">
                          <a:solidFill>
                            <a:srgbClr val="FFA3FF"/>
                          </a:solidFill>
                          <a:effectLst/>
                        </a:rPr>
                        <a:t>Course Code:</a:t>
                      </a:r>
                      <a:endParaRPr lang="en-US" sz="2400" dirty="0">
                        <a:solidFill>
                          <a:srgbClr val="FFA3FF"/>
                        </a:solidFill>
                        <a:effectLst/>
                        <a:latin typeface="Times New Roman" panose="02020603050405020304" pitchFamily="18" charset="0"/>
                        <a:ea typeface="Calibri" panose="020F0502020204030204" pitchFamily="34" charset="0"/>
                        <a:cs typeface="Vrinda" panose="01010600010101010101" pitchFamily="2" charset="0"/>
                      </a:endParaRPr>
                    </a:p>
                  </a:txBody>
                  <a:tcPr marL="8890" marR="8890" marT="8890" marB="8890" anchor="ctr"/>
                </a:tc>
                <a:tc>
                  <a:txBody>
                    <a:bodyPr/>
                    <a:lstStyle/>
                    <a:p>
                      <a:pPr marL="0" marR="0" algn="just">
                        <a:lnSpc>
                          <a:spcPct val="107000"/>
                        </a:lnSpc>
                        <a:spcBef>
                          <a:spcPts val="0"/>
                        </a:spcBef>
                        <a:spcAft>
                          <a:spcPts val="0"/>
                        </a:spcAft>
                      </a:pPr>
                      <a:r>
                        <a:rPr lang="en-US" sz="2800" dirty="0">
                          <a:solidFill>
                            <a:srgbClr val="FFA3FF"/>
                          </a:solidFill>
                          <a:effectLst/>
                        </a:rPr>
                        <a:t>EEE 4103</a:t>
                      </a:r>
                      <a:endParaRPr lang="en-US" sz="2400" dirty="0">
                        <a:solidFill>
                          <a:srgbClr val="FFA3FF"/>
                        </a:solidFill>
                        <a:effectLst/>
                        <a:latin typeface="Times New Roman" panose="02020603050405020304" pitchFamily="18" charset="0"/>
                        <a:ea typeface="Calibri" panose="020F0502020204030204" pitchFamily="34" charset="0"/>
                        <a:cs typeface="Vrinda" panose="01010600010101010101" pitchFamily="2" charset="0"/>
                      </a:endParaRPr>
                    </a:p>
                  </a:txBody>
                  <a:tcPr marL="8890" marR="8890" marT="8890" marB="8890" anchor="ctr"/>
                </a:tc>
                <a:tc>
                  <a:txBody>
                    <a:bodyPr/>
                    <a:lstStyle/>
                    <a:p>
                      <a:pPr marL="0" marR="0" algn="just">
                        <a:lnSpc>
                          <a:spcPct val="107000"/>
                        </a:lnSpc>
                        <a:spcBef>
                          <a:spcPts val="0"/>
                        </a:spcBef>
                        <a:spcAft>
                          <a:spcPts val="0"/>
                        </a:spcAft>
                      </a:pPr>
                      <a:r>
                        <a:rPr lang="en-US" sz="2800" dirty="0">
                          <a:solidFill>
                            <a:srgbClr val="FFA3FF"/>
                          </a:solidFill>
                          <a:effectLst/>
                        </a:rPr>
                        <a:t>Course Name:</a:t>
                      </a:r>
                      <a:endParaRPr lang="en-US" sz="2400" dirty="0">
                        <a:solidFill>
                          <a:srgbClr val="FFA3FF"/>
                        </a:solidFill>
                        <a:effectLst/>
                        <a:latin typeface="Times New Roman" panose="02020603050405020304" pitchFamily="18" charset="0"/>
                        <a:ea typeface="Calibri" panose="020F0502020204030204" pitchFamily="34" charset="0"/>
                        <a:cs typeface="Vrinda" panose="01010600010101010101" pitchFamily="2" charset="0"/>
                      </a:endParaRPr>
                    </a:p>
                  </a:txBody>
                  <a:tcPr marL="8890" marR="8890" marT="8890" marB="8890" anchor="ctr"/>
                </a:tc>
                <a:tc>
                  <a:txBody>
                    <a:bodyPr/>
                    <a:lstStyle/>
                    <a:p>
                      <a:pPr marL="0" marR="0" algn="just">
                        <a:lnSpc>
                          <a:spcPct val="107000"/>
                        </a:lnSpc>
                        <a:spcBef>
                          <a:spcPts val="0"/>
                        </a:spcBef>
                        <a:spcAft>
                          <a:spcPts val="0"/>
                        </a:spcAft>
                      </a:pPr>
                      <a:r>
                        <a:rPr lang="en-US" sz="2800" dirty="0">
                          <a:solidFill>
                            <a:srgbClr val="FFA3FF"/>
                          </a:solidFill>
                          <a:effectLst/>
                        </a:rPr>
                        <a:t>Microprocessor and Embedded Systems</a:t>
                      </a:r>
                      <a:endParaRPr lang="en-US" sz="2400" dirty="0">
                        <a:solidFill>
                          <a:srgbClr val="FFA3FF"/>
                        </a:solidFill>
                        <a:effectLst/>
                        <a:latin typeface="Times New Roman" panose="02020603050405020304" pitchFamily="18" charset="0"/>
                        <a:ea typeface="Calibri" panose="020F0502020204030204" pitchFamily="34" charset="0"/>
                        <a:cs typeface="Vrinda" panose="01010600010101010101" pitchFamily="2" charset="0"/>
                      </a:endParaRPr>
                    </a:p>
                  </a:txBody>
                  <a:tcPr marL="8890" marR="8890" marT="8890" marB="8890" anchor="ctr"/>
                </a:tc>
                <a:extLst>
                  <a:ext uri="{0D108BD9-81ED-4DB2-BD59-A6C34878D82A}">
                    <a16:rowId xmlns:a16="http://schemas.microsoft.com/office/drawing/2014/main" val="229074159"/>
                  </a:ext>
                </a:extLst>
              </a:tr>
            </a:tbl>
          </a:graphicData>
        </a:graphic>
      </p:graphicFrame>
    </p:spTree>
    <p:extLst>
      <p:ext uri="{BB962C8B-B14F-4D97-AF65-F5344CB8AC3E}">
        <p14:creationId xmlns:p14="http://schemas.microsoft.com/office/powerpoint/2010/main" val="22019699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Date Placeholder 1"/>
          <p:cNvSpPr>
            <a:spLocks noGrp="1"/>
          </p:cNvSpPr>
          <p:nvPr>
            <p:ph type="dt" sz="quarter" idx="10"/>
          </p:nvPr>
        </p:nvSpPr>
        <p:spPr bwMode="auto">
          <a:xfrm>
            <a:off x="19402" y="8813800"/>
            <a:ext cx="1779765" cy="3048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7208" tIns="58604" rIns="117208" bIns="58604" numCol="1" anchor="t" anchorCtr="0" compatLnSpc="1">
            <a:prstTxWarp prst="textNoShape">
              <a:avLst/>
            </a:prstTxWarp>
          </a:bodyPr>
          <a:lstStyle>
            <a:defPPr>
              <a:defRPr lang="en-US"/>
            </a:defPPr>
            <a:lvl1pPr algn="l" rtl="0" eaLnBrk="1" fontAlgn="base" hangingPunct="1">
              <a:spcBef>
                <a:spcPct val="0"/>
              </a:spcBef>
              <a:spcAft>
                <a:spcPct val="0"/>
              </a:spcAft>
              <a:defRPr sz="1300" kern="1200">
                <a:solidFill>
                  <a:schemeClr val="tx1"/>
                </a:solidFill>
                <a:latin typeface="Arial" charset="0"/>
                <a:ea typeface="+mn-ea"/>
                <a:cs typeface="Arial" charset="0"/>
              </a:defRPr>
            </a:lvl1pPr>
            <a:lvl2pPr marL="585788" indent="-128588" algn="l" rtl="0" eaLnBrk="0" fontAlgn="base" hangingPunct="0">
              <a:spcBef>
                <a:spcPct val="0"/>
              </a:spcBef>
              <a:spcAft>
                <a:spcPct val="0"/>
              </a:spcAft>
              <a:defRPr kern="1200">
                <a:solidFill>
                  <a:schemeClr val="tx1"/>
                </a:solidFill>
                <a:latin typeface="Arial" pitchFamily="34" charset="0"/>
                <a:ea typeface="+mn-ea"/>
                <a:cs typeface="Arial" pitchFamily="34" charset="0"/>
              </a:defRPr>
            </a:lvl2pPr>
            <a:lvl3pPr marL="1171575" indent="-257175" algn="l" rtl="0" eaLnBrk="0" fontAlgn="base" hangingPunct="0">
              <a:spcBef>
                <a:spcPct val="0"/>
              </a:spcBef>
              <a:spcAft>
                <a:spcPct val="0"/>
              </a:spcAft>
              <a:defRPr kern="1200">
                <a:solidFill>
                  <a:schemeClr val="tx1"/>
                </a:solidFill>
                <a:latin typeface="Arial" pitchFamily="34" charset="0"/>
                <a:ea typeface="+mn-ea"/>
                <a:cs typeface="Arial" pitchFamily="34" charset="0"/>
              </a:defRPr>
            </a:lvl3pPr>
            <a:lvl4pPr marL="1757363" indent="-385763" algn="l" rtl="0" eaLnBrk="0" fontAlgn="base" hangingPunct="0">
              <a:spcBef>
                <a:spcPct val="0"/>
              </a:spcBef>
              <a:spcAft>
                <a:spcPct val="0"/>
              </a:spcAft>
              <a:defRPr kern="1200">
                <a:solidFill>
                  <a:schemeClr val="tx1"/>
                </a:solidFill>
                <a:latin typeface="Arial" pitchFamily="34" charset="0"/>
                <a:ea typeface="+mn-ea"/>
                <a:cs typeface="Arial" pitchFamily="34" charset="0"/>
              </a:defRPr>
            </a:lvl4pPr>
            <a:lvl5pPr marL="2343150" indent="-514350" algn="l" rtl="0" eaLnBrk="0" fontAlgn="base" hangingPunct="0">
              <a:spcBef>
                <a:spcPct val="0"/>
              </a:spcBef>
              <a:spcAft>
                <a:spcPct val="0"/>
              </a:spcAft>
              <a:defRPr kern="1200">
                <a:solidFill>
                  <a:schemeClr val="tx1"/>
                </a:solidFill>
                <a:latin typeface="Arial" pitchFamily="34" charset="0"/>
                <a:ea typeface="+mn-ea"/>
                <a:cs typeface="Arial" pitchFamily="34" charset="0"/>
              </a:defRPr>
            </a:lvl5pPr>
            <a:lvl6pPr marL="2286000" algn="l" defTabSz="914400" rtl="0" eaLnBrk="1" latinLnBrk="0" hangingPunct="1">
              <a:defRPr kern="1200">
                <a:solidFill>
                  <a:schemeClr val="tx1"/>
                </a:solidFill>
                <a:latin typeface="Arial" pitchFamily="34" charset="0"/>
                <a:ea typeface="+mn-ea"/>
                <a:cs typeface="Arial" pitchFamily="34" charset="0"/>
              </a:defRPr>
            </a:lvl6pPr>
            <a:lvl7pPr marL="2743200" algn="l" defTabSz="914400" rtl="0" eaLnBrk="1" latinLnBrk="0" hangingPunct="1">
              <a:defRPr kern="1200">
                <a:solidFill>
                  <a:schemeClr val="tx1"/>
                </a:solidFill>
                <a:latin typeface="Arial" pitchFamily="34" charset="0"/>
                <a:ea typeface="+mn-ea"/>
                <a:cs typeface="Arial" pitchFamily="34" charset="0"/>
              </a:defRPr>
            </a:lvl7pPr>
            <a:lvl8pPr marL="3200400" algn="l" defTabSz="914400" rtl="0" eaLnBrk="1" latinLnBrk="0" hangingPunct="1">
              <a:defRPr kern="1200">
                <a:solidFill>
                  <a:schemeClr val="tx1"/>
                </a:solidFill>
                <a:latin typeface="Arial" pitchFamily="34" charset="0"/>
                <a:ea typeface="+mn-ea"/>
                <a:cs typeface="Arial" pitchFamily="34" charset="0"/>
              </a:defRPr>
            </a:lvl8pPr>
            <a:lvl9pPr marL="3657600" algn="l" defTabSz="914400" rtl="0" eaLnBrk="1" latinLnBrk="0" hangingPunct="1">
              <a:defRPr kern="1200">
                <a:solidFill>
                  <a:schemeClr val="tx1"/>
                </a:solidFill>
                <a:latin typeface="Arial" pitchFamily="34" charset="0"/>
                <a:ea typeface="+mn-ea"/>
                <a:cs typeface="Arial" pitchFamily="34" charset="0"/>
              </a:defRPr>
            </a:lvl9pPr>
          </a:lstStyle>
          <a:p>
            <a:pPr>
              <a:defRPr/>
            </a:pPr>
            <a:fld id="{AE337E8D-8E3A-4B5F-8907-939E82BFD863}" type="datetime3">
              <a:rPr lang="en-US" smtClean="0"/>
              <a:pPr>
                <a:defRPr/>
              </a:pPr>
              <a:t>24 August 2026</a:t>
            </a:fld>
            <a:endParaRPr lang="en-US" altLang="en-US"/>
          </a:p>
        </p:txBody>
      </p:sp>
      <p:sp>
        <p:nvSpPr>
          <p:cNvPr id="108547" name="Oval 3" descr="Parchment"/>
          <p:cNvSpPr>
            <a:spLocks noChangeArrowheads="1"/>
          </p:cNvSpPr>
          <p:nvPr/>
        </p:nvSpPr>
        <p:spPr bwMode="auto">
          <a:xfrm>
            <a:off x="1406769" y="473612"/>
            <a:ext cx="13680831" cy="685800"/>
          </a:xfrm>
          <a:prstGeom prst="ellipse">
            <a:avLst/>
          </a:prstGeom>
          <a:blipFill dpi="0" rotWithShape="1">
            <a:blip r:embed="rId2"/>
            <a:srcRect/>
            <a:tile tx="0" ty="0" sx="100000" sy="100000" flip="none" algn="tl"/>
          </a:blipFill>
          <a:ln w="9525">
            <a:solidFill>
              <a:schemeClr val="tx1"/>
            </a:solidFill>
            <a:round/>
            <a:headEnd/>
            <a:tailEnd/>
          </a:ln>
        </p:spPr>
        <p:txBody>
          <a:bodyPr wrap="none" lIns="105487" tIns="52744" rIns="105487" bIns="52744" anchor="ct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a:r>
              <a:rPr lang="en-US" altLang="en-US" sz="4320" b="1" dirty="0">
                <a:solidFill>
                  <a:srgbClr val="E200E2"/>
                </a:solidFill>
                <a:latin typeface="Britannic Bold" pitchFamily="34" charset="0"/>
              </a:rPr>
              <a:t>Attributes of Complex Engineering Activities</a:t>
            </a:r>
          </a:p>
        </p:txBody>
      </p:sp>
      <p:sp>
        <p:nvSpPr>
          <p:cNvPr id="2" name="Rectangle 1"/>
          <p:cNvSpPr/>
          <p:nvPr/>
        </p:nvSpPr>
        <p:spPr>
          <a:xfrm>
            <a:off x="137160" y="1261399"/>
            <a:ext cx="16184880" cy="4662815"/>
          </a:xfrm>
          <a:prstGeom prst="rect">
            <a:avLst/>
          </a:prstGeom>
        </p:spPr>
        <p:txBody>
          <a:bodyPr wrap="square">
            <a:spAutoFit/>
          </a:bodyPr>
          <a:lstStyle/>
          <a:p>
            <a:pPr>
              <a:spcAft>
                <a:spcPts val="600"/>
              </a:spcAft>
            </a:pPr>
            <a:r>
              <a:rPr lang="en-US" altLang="en-US" sz="2800" b="1" dirty="0">
                <a:solidFill>
                  <a:srgbClr val="00B050"/>
                </a:solidFill>
                <a:latin typeface="Times New Roman" panose="02020603050405020304" pitchFamily="18" charset="0"/>
                <a:cs typeface="Times New Roman" panose="02020603050405020304" pitchFamily="18" charset="0"/>
              </a:rPr>
              <a:t>BAETE Specified Complex Engineering Activity Profile (EA): </a:t>
            </a:r>
            <a:r>
              <a:rPr lang="en-US" altLang="en-US" sz="2800" dirty="0">
                <a:solidFill>
                  <a:srgbClr val="00B050"/>
                </a:solidFill>
                <a:latin typeface="Times New Roman" panose="02020603050405020304" pitchFamily="18" charset="0"/>
                <a:cs typeface="Times New Roman" panose="02020603050405020304" pitchFamily="18" charset="0"/>
              </a:rPr>
              <a:t>It involves around communication (PO10). Not activity but communication is required to solve a problem; e.g., to find the project’s impact on society, to mitigate the problem, engineers need to communicate with people living in the society.</a:t>
            </a:r>
          </a:p>
          <a:p>
            <a:r>
              <a:rPr lang="en-US" sz="2600" dirty="0">
                <a:latin typeface="Times New Roman" panose="02020603050405020304" pitchFamily="18" charset="0"/>
                <a:cs typeface="Times New Roman" panose="02020603050405020304" pitchFamily="18" charset="0"/>
              </a:rPr>
              <a:t>EA1 </a:t>
            </a:r>
            <a:r>
              <a:rPr lang="en-US" sz="2600" b="1" dirty="0">
                <a:latin typeface="Times New Roman" panose="02020603050405020304" pitchFamily="18" charset="0"/>
                <a:cs typeface="Times New Roman" panose="02020603050405020304" pitchFamily="18" charset="0"/>
              </a:rPr>
              <a:t>Range of Resources: </a:t>
            </a:r>
            <a:r>
              <a:rPr lang="en-US" sz="2600" dirty="0">
                <a:latin typeface="Times New Roman" panose="02020603050405020304" pitchFamily="18" charset="0"/>
                <a:cs typeface="Times New Roman" panose="02020603050405020304" pitchFamily="18" charset="0"/>
              </a:rPr>
              <a:t>involves the use of diverse resources(and for this purpose, resources include people, money, equipment, materials, information, and technologies)</a:t>
            </a:r>
          </a:p>
          <a:p>
            <a:r>
              <a:rPr lang="en-US" sz="2600" dirty="0">
                <a:latin typeface="Times New Roman" panose="02020603050405020304" pitchFamily="18" charset="0"/>
                <a:cs typeface="Times New Roman" panose="02020603050405020304" pitchFamily="18" charset="0"/>
              </a:rPr>
              <a:t>EA2 </a:t>
            </a:r>
            <a:r>
              <a:rPr lang="en-US" sz="2600" b="1" dirty="0">
                <a:latin typeface="Times New Roman" panose="02020603050405020304" pitchFamily="18" charset="0"/>
                <a:cs typeface="Times New Roman" panose="02020603050405020304" pitchFamily="18" charset="0"/>
              </a:rPr>
              <a:t>Level of Interactions: </a:t>
            </a:r>
            <a:r>
              <a:rPr lang="en-US" sz="2600" dirty="0">
                <a:latin typeface="Times New Roman" panose="02020603050405020304" pitchFamily="18" charset="0"/>
                <a:cs typeface="Times New Roman" panose="02020603050405020304" pitchFamily="18" charset="0"/>
              </a:rPr>
              <a:t>requires resolution of significant problems arising from interactions between wide-ranging or conflicting technical, engineering, or other issues	</a:t>
            </a:r>
          </a:p>
          <a:p>
            <a:r>
              <a:rPr lang="en-US" sz="2600" dirty="0">
                <a:latin typeface="Times New Roman" panose="02020603050405020304" pitchFamily="18" charset="0"/>
                <a:cs typeface="Times New Roman" panose="02020603050405020304" pitchFamily="18" charset="0"/>
              </a:rPr>
              <a:t>EA3 </a:t>
            </a:r>
            <a:r>
              <a:rPr lang="en-US" sz="2600" b="1" dirty="0">
                <a:latin typeface="Times New Roman" panose="02020603050405020304" pitchFamily="18" charset="0"/>
                <a:cs typeface="Times New Roman" panose="02020603050405020304" pitchFamily="18" charset="0"/>
              </a:rPr>
              <a:t>Innovation: </a:t>
            </a:r>
            <a:r>
              <a:rPr lang="en-US" sz="2600" dirty="0">
                <a:latin typeface="Times New Roman" panose="02020603050405020304" pitchFamily="18" charset="0"/>
                <a:cs typeface="Times New Roman" panose="02020603050405020304" pitchFamily="18" charset="0"/>
              </a:rPr>
              <a:t>involves the creative use of engineering principles and research-based knowledge in novel ways	</a:t>
            </a:r>
          </a:p>
          <a:p>
            <a:r>
              <a:rPr lang="en-US" sz="2600" dirty="0">
                <a:latin typeface="Times New Roman" panose="02020603050405020304" pitchFamily="18" charset="0"/>
                <a:cs typeface="Times New Roman" panose="02020603050405020304" pitchFamily="18" charset="0"/>
              </a:rPr>
              <a:t>EA4 </a:t>
            </a:r>
            <a:r>
              <a:rPr lang="en-US" sz="2600" b="1" dirty="0">
                <a:latin typeface="Times New Roman" panose="02020603050405020304" pitchFamily="18" charset="0"/>
                <a:cs typeface="Times New Roman" panose="02020603050405020304" pitchFamily="18" charset="0"/>
              </a:rPr>
              <a:t>Consequences to Society and the Environment: </a:t>
            </a:r>
            <a:r>
              <a:rPr lang="en-US" sz="2600" dirty="0">
                <a:latin typeface="Times New Roman" panose="02020603050405020304" pitchFamily="18" charset="0"/>
                <a:cs typeface="Times New Roman" panose="02020603050405020304" pitchFamily="18" charset="0"/>
              </a:rPr>
              <a:t>Have significant consequences in a range of contexts, characterized by difficulty of prediction and litigation.	</a:t>
            </a:r>
          </a:p>
          <a:p>
            <a:r>
              <a:rPr lang="en-US" sz="2600" dirty="0">
                <a:latin typeface="Times New Roman" panose="02020603050405020304" pitchFamily="18" charset="0"/>
                <a:cs typeface="Times New Roman" panose="02020603050405020304" pitchFamily="18" charset="0"/>
              </a:rPr>
              <a:t>EA5 </a:t>
            </a:r>
            <a:r>
              <a:rPr lang="en-US" sz="2600" b="1" dirty="0">
                <a:latin typeface="Times New Roman" panose="02020603050405020304" pitchFamily="18" charset="0"/>
                <a:cs typeface="Times New Roman" panose="02020603050405020304" pitchFamily="18" charset="0"/>
              </a:rPr>
              <a:t>Familiarity: </a:t>
            </a:r>
            <a:r>
              <a:rPr lang="en-US" sz="2600" dirty="0">
                <a:latin typeface="Times New Roman" panose="02020603050405020304" pitchFamily="18" charset="0"/>
                <a:cs typeface="Times New Roman" panose="02020603050405020304" pitchFamily="18" charset="0"/>
              </a:rPr>
              <a:t>Can extend beyond previous experiences by applying principles-based approaches.	</a:t>
            </a:r>
          </a:p>
        </p:txBody>
      </p:sp>
      <p:graphicFrame>
        <p:nvGraphicFramePr>
          <p:cNvPr id="3" name="Table 2">
            <a:extLst>
              <a:ext uri="{FF2B5EF4-FFF2-40B4-BE49-F238E27FC236}">
                <a16:creationId xmlns:a16="http://schemas.microsoft.com/office/drawing/2014/main" id="{BBC46071-3B13-5CC6-8B50-FF13BC18EE65}"/>
              </a:ext>
            </a:extLst>
          </p:cNvPr>
          <p:cNvGraphicFramePr>
            <a:graphicFrameLocks noGrp="1"/>
          </p:cNvGraphicFramePr>
          <p:nvPr>
            <p:extLst>
              <p:ext uri="{D42A27DB-BD31-4B8C-83A1-F6EECF244321}">
                <p14:modId xmlns:p14="http://schemas.microsoft.com/office/powerpoint/2010/main" val="2082806509"/>
              </p:ext>
            </p:extLst>
          </p:nvPr>
        </p:nvGraphicFramePr>
        <p:xfrm>
          <a:off x="222739" y="5961674"/>
          <a:ext cx="15978554" cy="1706880"/>
        </p:xfrm>
        <a:graphic>
          <a:graphicData uri="http://schemas.openxmlformats.org/drawingml/2006/table">
            <a:tbl>
              <a:tblPr firstRow="1" bandRow="1">
                <a:tableStyleId>{5C22544A-7EE6-4342-B048-85BDC9FD1C3A}</a:tableStyleId>
              </a:tblPr>
              <a:tblGrid>
                <a:gridCol w="2827438">
                  <a:extLst>
                    <a:ext uri="{9D8B030D-6E8A-4147-A177-3AD203B41FA5}">
                      <a16:colId xmlns:a16="http://schemas.microsoft.com/office/drawing/2014/main" val="20000"/>
                    </a:ext>
                  </a:extLst>
                </a:gridCol>
                <a:gridCol w="11538908">
                  <a:extLst>
                    <a:ext uri="{9D8B030D-6E8A-4147-A177-3AD203B41FA5}">
                      <a16:colId xmlns:a16="http://schemas.microsoft.com/office/drawing/2014/main" val="20001"/>
                    </a:ext>
                  </a:extLst>
                </a:gridCol>
                <a:gridCol w="1612208">
                  <a:extLst>
                    <a:ext uri="{9D8B030D-6E8A-4147-A177-3AD203B41FA5}">
                      <a16:colId xmlns:a16="http://schemas.microsoft.com/office/drawing/2014/main" val="20002"/>
                    </a:ext>
                  </a:extLst>
                </a:gridCol>
              </a:tblGrid>
              <a:tr h="370840">
                <a:tc>
                  <a:txBody>
                    <a:bodyPr/>
                    <a:lstStyle/>
                    <a:p>
                      <a:pPr algn="ctr"/>
                      <a:r>
                        <a:rPr lang="en-US" sz="2000" b="1" i="0" u="none" strike="noStrike" kern="1200" baseline="0" dirty="0">
                          <a:solidFill>
                            <a:srgbClr val="008000"/>
                          </a:solidFill>
                          <a:latin typeface="Times New Roman" panose="02020603050405020304" pitchFamily="18" charset="0"/>
                          <a:ea typeface="Tahoma" panose="020B0604030504040204" pitchFamily="34" charset="0"/>
                          <a:cs typeface="Times New Roman" panose="02020603050405020304" pitchFamily="18" charset="0"/>
                        </a:rPr>
                        <a:t>Differentiating</a:t>
                      </a:r>
                    </a:p>
                    <a:p>
                      <a:pPr algn="ctr"/>
                      <a:r>
                        <a:rPr lang="en-US" sz="2000" b="1" i="0" u="none" strike="noStrike" kern="1200" baseline="0" dirty="0">
                          <a:solidFill>
                            <a:srgbClr val="008000"/>
                          </a:solidFill>
                          <a:latin typeface="Times New Roman" panose="02020603050405020304" pitchFamily="18" charset="0"/>
                          <a:ea typeface="Tahoma" panose="020B0604030504040204" pitchFamily="34" charset="0"/>
                          <a:cs typeface="Times New Roman" panose="02020603050405020304" pitchFamily="18" charset="0"/>
                        </a:rPr>
                        <a:t>Characteristic</a:t>
                      </a:r>
                      <a:endParaRPr lang="en-US" sz="2000" b="1" dirty="0">
                        <a:solidFill>
                          <a:srgbClr val="008000"/>
                        </a:solidFill>
                        <a:latin typeface="Times New Roman" panose="02020603050405020304" pitchFamily="18" charset="0"/>
                        <a:ea typeface="Tahoma" panose="020B0604030504040204" pitchFamily="34" charset="0"/>
                        <a:cs typeface="Times New Roman" panose="02020603050405020304" pitchFamily="18" charset="0"/>
                      </a:endParaRPr>
                    </a:p>
                  </a:txBody>
                  <a:tcPr anchor="ctr"/>
                </a:tc>
                <a:tc>
                  <a:txBody>
                    <a:bodyPr/>
                    <a:lstStyle/>
                    <a:p>
                      <a:pPr algn="ctr"/>
                      <a:r>
                        <a:rPr lang="en-US" sz="2000" b="1" i="0" u="none" strike="noStrike" kern="1200" baseline="0" dirty="0">
                          <a:solidFill>
                            <a:srgbClr val="008000"/>
                          </a:solidFill>
                          <a:latin typeface="Times New Roman" panose="02020603050405020304" pitchFamily="18" charset="0"/>
                          <a:ea typeface="Tahoma" panose="020B0604030504040204" pitchFamily="34" charset="0"/>
                          <a:cs typeface="Times New Roman" panose="02020603050405020304" pitchFamily="18" charset="0"/>
                        </a:rPr>
                        <a:t>Description</a:t>
                      </a:r>
                      <a:endParaRPr lang="en-US" sz="2000" b="1" dirty="0">
                        <a:solidFill>
                          <a:srgbClr val="008000"/>
                        </a:solidFill>
                        <a:latin typeface="Times New Roman" panose="02020603050405020304" pitchFamily="18" charset="0"/>
                        <a:ea typeface="Tahoma" panose="020B0604030504040204" pitchFamily="34" charset="0"/>
                        <a:cs typeface="Times New Roman" panose="02020603050405020304" pitchFamily="18" charset="0"/>
                      </a:endParaRPr>
                    </a:p>
                  </a:txBody>
                  <a:tcPr anchor="ctr"/>
                </a:tc>
                <a:tc>
                  <a:txBody>
                    <a:bodyPr/>
                    <a:lstStyle/>
                    <a:p>
                      <a:pPr algn="ctr"/>
                      <a:r>
                        <a:rPr lang="en-US" sz="2000" b="1" dirty="0">
                          <a:solidFill>
                            <a:srgbClr val="008000"/>
                          </a:solidFill>
                          <a:latin typeface="Times New Roman" panose="02020603050405020304" pitchFamily="18" charset="0"/>
                          <a:ea typeface="Tahoma" panose="020B0604030504040204" pitchFamily="34" charset="0"/>
                          <a:cs typeface="Times New Roman" panose="02020603050405020304" pitchFamily="18" charset="0"/>
                        </a:rPr>
                        <a:t>Taxonomy</a:t>
                      </a:r>
                    </a:p>
                    <a:p>
                      <a:pPr algn="ctr"/>
                      <a:r>
                        <a:rPr lang="en-US" sz="2000" b="1" dirty="0">
                          <a:solidFill>
                            <a:srgbClr val="008000"/>
                          </a:solidFill>
                          <a:latin typeface="Times New Roman" panose="02020603050405020304" pitchFamily="18" charset="0"/>
                          <a:ea typeface="Tahoma" panose="020B0604030504040204" pitchFamily="34" charset="0"/>
                          <a:cs typeface="Times New Roman" panose="02020603050405020304" pitchFamily="18" charset="0"/>
                        </a:rPr>
                        <a:t>Domain</a:t>
                      </a:r>
                    </a:p>
                  </a:txBody>
                  <a:tcPr anchor="ctr"/>
                </a:tc>
                <a:extLst>
                  <a:ext uri="{0D108BD9-81ED-4DB2-BD59-A6C34878D82A}">
                    <a16:rowId xmlns:a16="http://schemas.microsoft.com/office/drawing/2014/main" val="10000"/>
                  </a:ext>
                </a:extLst>
              </a:tr>
              <a:tr h="370840">
                <a:tc>
                  <a:txBody>
                    <a:bodyPr/>
                    <a:lstStyle/>
                    <a:p>
                      <a:pPr algn="ctr"/>
                      <a:r>
                        <a:rPr lang="en-US" sz="2000" b="1" i="0" u="none" strike="noStrike" kern="1200" baseline="0" dirty="0">
                          <a:solidFill>
                            <a:schemeClr val="dk1"/>
                          </a:solidFill>
                          <a:latin typeface="Times New Roman" panose="02020603050405020304" pitchFamily="18" charset="0"/>
                          <a:ea typeface="Tahoma" panose="020B0604030504040204" pitchFamily="34" charset="0"/>
                          <a:cs typeface="Times New Roman" panose="02020603050405020304" pitchFamily="18" charset="0"/>
                        </a:rPr>
                        <a:t>PO10: Communication</a:t>
                      </a:r>
                      <a:endParaRPr lang="en-US" sz="2000" dirty="0">
                        <a:latin typeface="Times New Roman" panose="02020603050405020304" pitchFamily="18" charset="0"/>
                        <a:ea typeface="Tahoma" panose="020B0604030504040204" pitchFamily="34" charset="0"/>
                        <a:cs typeface="Times New Roman" panose="02020603050405020304" pitchFamily="18" charset="0"/>
                      </a:endParaRPr>
                    </a:p>
                  </a:txBody>
                  <a:tcPr/>
                </a:tc>
                <a:tc>
                  <a:txBody>
                    <a:bodyPr/>
                    <a:lstStyle/>
                    <a:p>
                      <a:r>
                        <a:rPr lang="en-US" sz="2000" b="0" i="0" u="none" strike="noStrike" kern="1200" baseline="0" dirty="0">
                          <a:solidFill>
                            <a:schemeClr val="dk1"/>
                          </a:solidFill>
                          <a:latin typeface="Times New Roman" panose="02020603050405020304" pitchFamily="18" charset="0"/>
                          <a:ea typeface="Tahoma" panose="020B0604030504040204" pitchFamily="34" charset="0"/>
                          <a:cs typeface="Times New Roman" panose="02020603050405020304" pitchFamily="18" charset="0"/>
                        </a:rPr>
                        <a:t>Communicate effectively on </a:t>
                      </a:r>
                      <a:r>
                        <a:rPr lang="en-US" sz="2000" b="0" i="0" u="none" strike="noStrike" kern="1200" baseline="0" dirty="0">
                          <a:solidFill>
                            <a:srgbClr val="0000CC"/>
                          </a:solidFill>
                          <a:latin typeface="Times New Roman" panose="02020603050405020304" pitchFamily="18" charset="0"/>
                          <a:ea typeface="Tahoma" panose="020B0604030504040204" pitchFamily="34" charset="0"/>
                          <a:cs typeface="Times New Roman" panose="02020603050405020304" pitchFamily="18" charset="0"/>
                        </a:rPr>
                        <a:t>complex engineering activities </a:t>
                      </a:r>
                      <a:r>
                        <a:rPr lang="en-US" sz="2000" b="0" i="0" u="none" strike="noStrike" kern="1200" baseline="0" dirty="0">
                          <a:solidFill>
                            <a:schemeClr val="dk1"/>
                          </a:solidFill>
                          <a:latin typeface="Times New Roman" panose="02020603050405020304" pitchFamily="18" charset="0"/>
                          <a:ea typeface="Tahoma" panose="020B0604030504040204" pitchFamily="34" charset="0"/>
                          <a:cs typeface="Times New Roman" panose="02020603050405020304" pitchFamily="18" charset="0"/>
                        </a:rPr>
                        <a:t>with the engineering community and with society at large, such as being able to comprehend and write effective reports and design documentation, make effective presentations, and give and receive clear instructions</a:t>
                      </a:r>
                      <a:endParaRPr lang="en-US" sz="2000" dirty="0">
                        <a:latin typeface="Times New Roman" panose="02020603050405020304" pitchFamily="18" charset="0"/>
                        <a:ea typeface="Tahoma" panose="020B0604030504040204" pitchFamily="34" charset="0"/>
                        <a:cs typeface="Times New Roman" panose="02020603050405020304" pitchFamily="18" charset="0"/>
                      </a:endParaRPr>
                    </a:p>
                  </a:txBody>
                  <a:tcPr/>
                </a:tc>
                <a:tc>
                  <a:txBody>
                    <a:bodyPr/>
                    <a:lstStyle/>
                    <a:p>
                      <a:pPr marL="0" marR="0" indent="0" algn="ctr" defTabSz="1172078" rtl="0" eaLnBrk="1" fontAlgn="auto" latinLnBrk="0" hangingPunct="1">
                        <a:lnSpc>
                          <a:spcPct val="100000"/>
                        </a:lnSpc>
                        <a:spcBef>
                          <a:spcPts val="0"/>
                        </a:spcBef>
                        <a:spcAft>
                          <a:spcPts val="0"/>
                        </a:spcAft>
                        <a:buClrTx/>
                        <a:buSzTx/>
                        <a:buFontTx/>
                        <a:buNone/>
                        <a:tabLst/>
                        <a:defRPr/>
                      </a:pPr>
                      <a:r>
                        <a:rPr lang="en-US" sz="2000" dirty="0">
                          <a:latin typeface="Times New Roman" panose="02020603050405020304" pitchFamily="18" charset="0"/>
                          <a:ea typeface="Tahoma" panose="020B0604030504040204" pitchFamily="34" charset="0"/>
                          <a:cs typeface="Times New Roman" panose="02020603050405020304" pitchFamily="18" charset="0"/>
                        </a:rPr>
                        <a:t>Affective</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936345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2477E-D3D7-41B5-CF38-6A58C8D69CA2}"/>
            </a:ext>
          </a:extLst>
        </p:cNvPr>
        <p:cNvGrpSpPr/>
        <p:nvPr/>
      </p:nvGrpSpPr>
      <p:grpSpPr>
        <a:xfrm>
          <a:off x="0" y="0"/>
          <a:ext cx="0" cy="0"/>
          <a:chOff x="0" y="0"/>
          <a:chExt cx="0" cy="0"/>
        </a:xfrm>
      </p:grpSpPr>
      <p:sp>
        <p:nvSpPr>
          <p:cNvPr id="108546" name="Date Placeholder 1">
            <a:extLst>
              <a:ext uri="{FF2B5EF4-FFF2-40B4-BE49-F238E27FC236}">
                <a16:creationId xmlns:a16="http://schemas.microsoft.com/office/drawing/2014/main" id="{65277B9D-7FEB-331C-17AD-8D24B2A14AC7}"/>
              </a:ext>
            </a:extLst>
          </p:cNvPr>
          <p:cNvSpPr>
            <a:spLocks noGrp="1"/>
          </p:cNvSpPr>
          <p:nvPr>
            <p:ph type="dt" sz="quarter" idx="10"/>
          </p:nvPr>
        </p:nvSpPr>
        <p:spPr bwMode="auto">
          <a:xfrm>
            <a:off x="19402" y="8813800"/>
            <a:ext cx="1779765" cy="3048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7208" tIns="58604" rIns="117208" bIns="58604" numCol="1" anchor="t" anchorCtr="0" compatLnSpc="1">
            <a:prstTxWarp prst="textNoShape">
              <a:avLst/>
            </a:prstTxWarp>
          </a:bodyPr>
          <a:lstStyle>
            <a:defPPr>
              <a:defRPr lang="en-US"/>
            </a:defPPr>
            <a:lvl1pPr algn="l" rtl="0" eaLnBrk="1" fontAlgn="base" hangingPunct="1">
              <a:spcBef>
                <a:spcPct val="0"/>
              </a:spcBef>
              <a:spcAft>
                <a:spcPct val="0"/>
              </a:spcAft>
              <a:defRPr sz="1300" kern="1200">
                <a:solidFill>
                  <a:schemeClr val="tx1"/>
                </a:solidFill>
                <a:latin typeface="Arial" charset="0"/>
                <a:ea typeface="+mn-ea"/>
                <a:cs typeface="Arial" charset="0"/>
              </a:defRPr>
            </a:lvl1pPr>
            <a:lvl2pPr marL="585788" indent="-128588" algn="l" rtl="0" eaLnBrk="0" fontAlgn="base" hangingPunct="0">
              <a:spcBef>
                <a:spcPct val="0"/>
              </a:spcBef>
              <a:spcAft>
                <a:spcPct val="0"/>
              </a:spcAft>
              <a:defRPr kern="1200">
                <a:solidFill>
                  <a:schemeClr val="tx1"/>
                </a:solidFill>
                <a:latin typeface="Arial" pitchFamily="34" charset="0"/>
                <a:ea typeface="+mn-ea"/>
                <a:cs typeface="Arial" pitchFamily="34" charset="0"/>
              </a:defRPr>
            </a:lvl2pPr>
            <a:lvl3pPr marL="1171575" indent="-257175" algn="l" rtl="0" eaLnBrk="0" fontAlgn="base" hangingPunct="0">
              <a:spcBef>
                <a:spcPct val="0"/>
              </a:spcBef>
              <a:spcAft>
                <a:spcPct val="0"/>
              </a:spcAft>
              <a:defRPr kern="1200">
                <a:solidFill>
                  <a:schemeClr val="tx1"/>
                </a:solidFill>
                <a:latin typeface="Arial" pitchFamily="34" charset="0"/>
                <a:ea typeface="+mn-ea"/>
                <a:cs typeface="Arial" pitchFamily="34" charset="0"/>
              </a:defRPr>
            </a:lvl3pPr>
            <a:lvl4pPr marL="1757363" indent="-385763" algn="l" rtl="0" eaLnBrk="0" fontAlgn="base" hangingPunct="0">
              <a:spcBef>
                <a:spcPct val="0"/>
              </a:spcBef>
              <a:spcAft>
                <a:spcPct val="0"/>
              </a:spcAft>
              <a:defRPr kern="1200">
                <a:solidFill>
                  <a:schemeClr val="tx1"/>
                </a:solidFill>
                <a:latin typeface="Arial" pitchFamily="34" charset="0"/>
                <a:ea typeface="+mn-ea"/>
                <a:cs typeface="Arial" pitchFamily="34" charset="0"/>
              </a:defRPr>
            </a:lvl4pPr>
            <a:lvl5pPr marL="2343150" indent="-514350" algn="l" rtl="0" eaLnBrk="0" fontAlgn="base" hangingPunct="0">
              <a:spcBef>
                <a:spcPct val="0"/>
              </a:spcBef>
              <a:spcAft>
                <a:spcPct val="0"/>
              </a:spcAft>
              <a:defRPr kern="1200">
                <a:solidFill>
                  <a:schemeClr val="tx1"/>
                </a:solidFill>
                <a:latin typeface="Arial" pitchFamily="34" charset="0"/>
                <a:ea typeface="+mn-ea"/>
                <a:cs typeface="Arial" pitchFamily="34" charset="0"/>
              </a:defRPr>
            </a:lvl5pPr>
            <a:lvl6pPr marL="2286000" algn="l" defTabSz="914400" rtl="0" eaLnBrk="1" latinLnBrk="0" hangingPunct="1">
              <a:defRPr kern="1200">
                <a:solidFill>
                  <a:schemeClr val="tx1"/>
                </a:solidFill>
                <a:latin typeface="Arial" pitchFamily="34" charset="0"/>
                <a:ea typeface="+mn-ea"/>
                <a:cs typeface="Arial" pitchFamily="34" charset="0"/>
              </a:defRPr>
            </a:lvl6pPr>
            <a:lvl7pPr marL="2743200" algn="l" defTabSz="914400" rtl="0" eaLnBrk="1" latinLnBrk="0" hangingPunct="1">
              <a:defRPr kern="1200">
                <a:solidFill>
                  <a:schemeClr val="tx1"/>
                </a:solidFill>
                <a:latin typeface="Arial" pitchFamily="34" charset="0"/>
                <a:ea typeface="+mn-ea"/>
                <a:cs typeface="Arial" pitchFamily="34" charset="0"/>
              </a:defRPr>
            </a:lvl7pPr>
            <a:lvl8pPr marL="3200400" algn="l" defTabSz="914400" rtl="0" eaLnBrk="1" latinLnBrk="0" hangingPunct="1">
              <a:defRPr kern="1200">
                <a:solidFill>
                  <a:schemeClr val="tx1"/>
                </a:solidFill>
                <a:latin typeface="Arial" pitchFamily="34" charset="0"/>
                <a:ea typeface="+mn-ea"/>
                <a:cs typeface="Arial" pitchFamily="34" charset="0"/>
              </a:defRPr>
            </a:lvl8pPr>
            <a:lvl9pPr marL="3657600" algn="l" defTabSz="914400" rtl="0" eaLnBrk="1" latinLnBrk="0" hangingPunct="1">
              <a:defRPr kern="1200">
                <a:solidFill>
                  <a:schemeClr val="tx1"/>
                </a:solidFill>
                <a:latin typeface="Arial" pitchFamily="34" charset="0"/>
                <a:ea typeface="+mn-ea"/>
                <a:cs typeface="Arial" pitchFamily="34" charset="0"/>
              </a:defRPr>
            </a:lvl9pPr>
          </a:lstStyle>
          <a:p>
            <a:pPr>
              <a:defRPr/>
            </a:pPr>
            <a:fld id="{AE337E8D-8E3A-4B5F-8907-939E82BFD863}" type="datetime3">
              <a:rPr lang="en-US" smtClean="0"/>
              <a:pPr>
                <a:defRPr/>
              </a:pPr>
              <a:t>24 August 2026</a:t>
            </a:fld>
            <a:endParaRPr lang="en-US" altLang="en-US"/>
          </a:p>
        </p:txBody>
      </p:sp>
      <p:sp>
        <p:nvSpPr>
          <p:cNvPr id="108547" name="Oval 3" descr="Parchment">
            <a:extLst>
              <a:ext uri="{FF2B5EF4-FFF2-40B4-BE49-F238E27FC236}">
                <a16:creationId xmlns:a16="http://schemas.microsoft.com/office/drawing/2014/main" id="{8A2E336F-E641-4152-3E96-836A6F7319F3}"/>
              </a:ext>
            </a:extLst>
          </p:cNvPr>
          <p:cNvSpPr>
            <a:spLocks noChangeArrowheads="1"/>
          </p:cNvSpPr>
          <p:nvPr/>
        </p:nvSpPr>
        <p:spPr bwMode="auto">
          <a:xfrm>
            <a:off x="339969" y="473611"/>
            <a:ext cx="15861324" cy="787787"/>
          </a:xfrm>
          <a:prstGeom prst="ellipse">
            <a:avLst/>
          </a:prstGeom>
          <a:blipFill dpi="0" rotWithShape="1">
            <a:blip r:embed="rId2"/>
            <a:srcRect/>
            <a:tile tx="0" ty="0" sx="100000" sy="100000" flip="none" algn="tl"/>
          </a:blipFill>
          <a:ln w="9525">
            <a:solidFill>
              <a:schemeClr val="tx1"/>
            </a:solidFill>
            <a:round/>
            <a:headEnd/>
            <a:tailEnd/>
          </a:ln>
        </p:spPr>
        <p:txBody>
          <a:bodyPr wrap="none" lIns="105487" tIns="52744" rIns="105487" bIns="52744" anchor="ct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a:r>
              <a:rPr lang="en-US" altLang="en-US" sz="4000" b="1" dirty="0">
                <a:solidFill>
                  <a:srgbClr val="E200E2"/>
                </a:solidFill>
                <a:latin typeface="Britannic Bold" pitchFamily="34" charset="0"/>
              </a:rPr>
              <a:t>Five Levels of the Affective Domain of Bloom’s Taxonomy</a:t>
            </a:r>
          </a:p>
        </p:txBody>
      </p:sp>
      <p:sp>
        <p:nvSpPr>
          <p:cNvPr id="2" name="Rectangle 1">
            <a:extLst>
              <a:ext uri="{FF2B5EF4-FFF2-40B4-BE49-F238E27FC236}">
                <a16:creationId xmlns:a16="http://schemas.microsoft.com/office/drawing/2014/main" id="{DB4DE234-9F91-6222-0D9A-971E04571127}"/>
              </a:ext>
            </a:extLst>
          </p:cNvPr>
          <p:cNvSpPr/>
          <p:nvPr/>
        </p:nvSpPr>
        <p:spPr>
          <a:xfrm>
            <a:off x="175846" y="1378629"/>
            <a:ext cx="16146194" cy="6509474"/>
          </a:xfrm>
          <a:prstGeom prst="rect">
            <a:avLst/>
          </a:prstGeom>
        </p:spPr>
        <p:txBody>
          <a:bodyPr wrap="square" lIns="0" tIns="0" rIns="0" bIns="0">
            <a:spAutoFit/>
          </a:bodyPr>
          <a:lstStyle/>
          <a:p>
            <a:pPr>
              <a:spcAft>
                <a:spcPts val="600"/>
              </a:spcAft>
            </a:pPr>
            <a:r>
              <a:rPr lang="en-US" altLang="en-US" sz="2800" b="1" dirty="0">
                <a:solidFill>
                  <a:srgbClr val="00B050"/>
                </a:solidFill>
                <a:latin typeface="Times New Roman" panose="02020603050405020304" pitchFamily="18" charset="0"/>
                <a:cs typeface="Times New Roman" panose="02020603050405020304" pitchFamily="18" charset="0"/>
              </a:rPr>
              <a:t>Affective Domain: </a:t>
            </a:r>
            <a:r>
              <a:rPr lang="en-US" altLang="en-US" sz="2800" dirty="0">
                <a:solidFill>
                  <a:srgbClr val="00B050"/>
                </a:solidFill>
                <a:latin typeface="Times New Roman" panose="02020603050405020304" pitchFamily="18" charset="0"/>
                <a:cs typeface="Times New Roman" panose="02020603050405020304" pitchFamily="18" charset="0"/>
              </a:rPr>
              <a:t>The affective domain of Bloom’s Taxonomy, developed by David Krathwohl and Benjamin Bloom, focuses on emotional learning, including attitudes, values, appreciation, and motivations. It comprises five hierarchical levels—receiving, responding, valuing, organizing, and characterizing—ranging from basic awareness to internalizing values that guide behavior.</a:t>
            </a:r>
          </a:p>
          <a:p>
            <a:r>
              <a:rPr lang="en-US" sz="2600" b="1" dirty="0">
                <a:latin typeface="Times New Roman" panose="02020603050405020304" pitchFamily="18" charset="0"/>
                <a:cs typeface="Times New Roman" panose="02020603050405020304" pitchFamily="18" charset="0"/>
              </a:rPr>
              <a:t>A1 Receive (Aware):</a:t>
            </a:r>
            <a:r>
              <a:rPr lang="en-US" sz="2600" dirty="0">
                <a:latin typeface="Times New Roman" panose="02020603050405020304" pitchFamily="18" charset="0"/>
                <a:cs typeface="Times New Roman" panose="02020603050405020304" pitchFamily="18" charset="0"/>
              </a:rPr>
              <a:t> The lowest level, representing a willingness to listen or pay attention. (e.g., listen to others with respect, attend a session).</a:t>
            </a:r>
          </a:p>
          <a:p>
            <a:r>
              <a:rPr lang="en-US" sz="2600" b="1" dirty="0">
                <a:latin typeface="Times New Roman" panose="02020603050405020304" pitchFamily="18" charset="0"/>
                <a:cs typeface="Times New Roman" panose="02020603050405020304" pitchFamily="18" charset="0"/>
              </a:rPr>
              <a:t>A2 Respond (Participate Actively):</a:t>
            </a:r>
            <a:r>
              <a:rPr lang="en-US" sz="2600" dirty="0">
                <a:latin typeface="Times New Roman" panose="02020603050405020304" pitchFamily="18" charset="0"/>
                <a:cs typeface="Times New Roman" panose="02020603050405020304" pitchFamily="18" charset="0"/>
              </a:rPr>
              <a:t> Active participation and reaction to a phenomenon. (e.g., participating in class discussions, complying with safety rules).</a:t>
            </a:r>
          </a:p>
          <a:p>
            <a:r>
              <a:rPr lang="en-US" sz="2600" b="1" dirty="0">
                <a:latin typeface="Times New Roman" panose="02020603050405020304" pitchFamily="18" charset="0"/>
                <a:cs typeface="Times New Roman" panose="02020603050405020304" pitchFamily="18" charset="0"/>
              </a:rPr>
              <a:t>A3 Value (Attach Worth):</a:t>
            </a:r>
            <a:r>
              <a:rPr lang="en-US" sz="2600" dirty="0">
                <a:latin typeface="Times New Roman" panose="02020603050405020304" pitchFamily="18" charset="0"/>
                <a:cs typeface="Times New Roman" panose="02020603050405020304" pitchFamily="18" charset="0"/>
              </a:rPr>
              <a:t> Attach worth or value to a specific object, phenomenon, or behavior. (e.g., appreciate the role of, demonstrate belief in, or show commitment to an idea).</a:t>
            </a:r>
          </a:p>
          <a:p>
            <a:r>
              <a:rPr lang="en-US" sz="2600" b="1" dirty="0">
                <a:latin typeface="Times New Roman" panose="02020603050405020304" pitchFamily="18" charset="0"/>
                <a:cs typeface="Times New Roman" panose="02020603050405020304" pitchFamily="18" charset="0"/>
              </a:rPr>
              <a:t>A4 Organize (Conceptualize):</a:t>
            </a:r>
            <a:r>
              <a:rPr lang="en-US" sz="2600" dirty="0">
                <a:latin typeface="Times New Roman" panose="02020603050405020304" pitchFamily="18" charset="0"/>
                <a:cs typeface="Times New Roman" panose="02020603050405020304" pitchFamily="18" charset="0"/>
              </a:rPr>
              <a:t> Organize values into priorities and resolve conflicts between them to create a consistent value system. (e.g., prioritize time to meet goals, create a life balance).</a:t>
            </a:r>
          </a:p>
          <a:p>
            <a:r>
              <a:rPr lang="en-US" sz="2600" b="1" dirty="0">
                <a:latin typeface="Times New Roman" panose="02020603050405020304" pitchFamily="18" charset="0"/>
                <a:cs typeface="Times New Roman" panose="02020603050405020304" pitchFamily="18" charset="0"/>
              </a:rPr>
              <a:t>A5 Characterize (Internalize):</a:t>
            </a:r>
            <a:r>
              <a:rPr lang="en-US" sz="2600" dirty="0">
                <a:latin typeface="Times New Roman" panose="02020603050405020304" pitchFamily="18" charset="0"/>
                <a:cs typeface="Times New Roman" panose="02020603050405020304" pitchFamily="18" charset="0"/>
              </a:rPr>
              <a:t> The highest level of the Affective Domain, where values are deeply internalized or naturalize and guide actions consistently. (e.g., act in accordance with personal values, behave ethically).</a:t>
            </a:r>
          </a:p>
          <a:p>
            <a:endParaRPr lang="en-US" sz="1600" dirty="0">
              <a:latin typeface="Times New Roman" panose="02020603050405020304" pitchFamily="18" charset="0"/>
              <a:cs typeface="Times New Roman" panose="02020603050405020304" pitchFamily="18" charset="0"/>
            </a:endParaRPr>
          </a:p>
          <a:p>
            <a:r>
              <a:rPr lang="en-US" sz="2600" b="1" dirty="0">
                <a:latin typeface="Times New Roman" panose="02020603050405020304" pitchFamily="18" charset="0"/>
                <a:cs typeface="Times New Roman" panose="02020603050405020304" pitchFamily="18" charset="0"/>
              </a:rPr>
              <a:t>Action Verbs:</a:t>
            </a:r>
            <a:r>
              <a:rPr lang="en-US" sz="2600" dirty="0">
                <a:latin typeface="Times New Roman" panose="02020603050405020304" pitchFamily="18" charset="0"/>
                <a:cs typeface="Times New Roman" panose="02020603050405020304" pitchFamily="18" charset="0"/>
              </a:rPr>
              <a:t> Ask, choose, follow, comply, discuss, help, perform, express, arrange, prioritize, act.</a:t>
            </a:r>
          </a:p>
        </p:txBody>
      </p:sp>
    </p:spTree>
    <p:extLst>
      <p:ext uri="{BB962C8B-B14F-4D97-AF65-F5344CB8AC3E}">
        <p14:creationId xmlns:p14="http://schemas.microsoft.com/office/powerpoint/2010/main" val="657623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1D142F-7C47-A450-FE7E-4B69A319A64D}"/>
            </a:ext>
          </a:extLst>
        </p:cNvPr>
        <p:cNvGrpSpPr/>
        <p:nvPr/>
      </p:nvGrpSpPr>
      <p:grpSpPr>
        <a:xfrm>
          <a:off x="0" y="0"/>
          <a:ext cx="0" cy="0"/>
          <a:chOff x="0" y="0"/>
          <a:chExt cx="0" cy="0"/>
        </a:xfrm>
      </p:grpSpPr>
      <p:sp>
        <p:nvSpPr>
          <p:cNvPr id="108546" name="Date Placeholder 1">
            <a:extLst>
              <a:ext uri="{FF2B5EF4-FFF2-40B4-BE49-F238E27FC236}">
                <a16:creationId xmlns:a16="http://schemas.microsoft.com/office/drawing/2014/main" id="{E5B96B99-E5C3-7581-273B-974079B087F9}"/>
              </a:ext>
            </a:extLst>
          </p:cNvPr>
          <p:cNvSpPr>
            <a:spLocks noGrp="1"/>
          </p:cNvSpPr>
          <p:nvPr>
            <p:ph type="dt" sz="quarter" idx="10"/>
          </p:nvPr>
        </p:nvSpPr>
        <p:spPr bwMode="auto">
          <a:xfrm>
            <a:off x="19402" y="8813800"/>
            <a:ext cx="1779765" cy="3048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7208" tIns="58604" rIns="117208" bIns="58604" numCol="1" anchor="t" anchorCtr="0" compatLnSpc="1">
            <a:prstTxWarp prst="textNoShape">
              <a:avLst/>
            </a:prstTxWarp>
          </a:bodyPr>
          <a:lstStyle>
            <a:defPPr>
              <a:defRPr lang="en-US"/>
            </a:defPPr>
            <a:lvl1pPr algn="l" rtl="0" eaLnBrk="1" fontAlgn="base" hangingPunct="1">
              <a:spcBef>
                <a:spcPct val="0"/>
              </a:spcBef>
              <a:spcAft>
                <a:spcPct val="0"/>
              </a:spcAft>
              <a:defRPr sz="1300" kern="1200">
                <a:solidFill>
                  <a:schemeClr val="tx1"/>
                </a:solidFill>
                <a:latin typeface="Arial" charset="0"/>
                <a:ea typeface="+mn-ea"/>
                <a:cs typeface="Arial" charset="0"/>
              </a:defRPr>
            </a:lvl1pPr>
            <a:lvl2pPr marL="585788" indent="-128588" algn="l" rtl="0" eaLnBrk="0" fontAlgn="base" hangingPunct="0">
              <a:spcBef>
                <a:spcPct val="0"/>
              </a:spcBef>
              <a:spcAft>
                <a:spcPct val="0"/>
              </a:spcAft>
              <a:defRPr kern="1200">
                <a:solidFill>
                  <a:schemeClr val="tx1"/>
                </a:solidFill>
                <a:latin typeface="Arial" pitchFamily="34" charset="0"/>
                <a:ea typeface="+mn-ea"/>
                <a:cs typeface="Arial" pitchFamily="34" charset="0"/>
              </a:defRPr>
            </a:lvl2pPr>
            <a:lvl3pPr marL="1171575" indent="-257175" algn="l" rtl="0" eaLnBrk="0" fontAlgn="base" hangingPunct="0">
              <a:spcBef>
                <a:spcPct val="0"/>
              </a:spcBef>
              <a:spcAft>
                <a:spcPct val="0"/>
              </a:spcAft>
              <a:defRPr kern="1200">
                <a:solidFill>
                  <a:schemeClr val="tx1"/>
                </a:solidFill>
                <a:latin typeface="Arial" pitchFamily="34" charset="0"/>
                <a:ea typeface="+mn-ea"/>
                <a:cs typeface="Arial" pitchFamily="34" charset="0"/>
              </a:defRPr>
            </a:lvl3pPr>
            <a:lvl4pPr marL="1757363" indent="-385763" algn="l" rtl="0" eaLnBrk="0" fontAlgn="base" hangingPunct="0">
              <a:spcBef>
                <a:spcPct val="0"/>
              </a:spcBef>
              <a:spcAft>
                <a:spcPct val="0"/>
              </a:spcAft>
              <a:defRPr kern="1200">
                <a:solidFill>
                  <a:schemeClr val="tx1"/>
                </a:solidFill>
                <a:latin typeface="Arial" pitchFamily="34" charset="0"/>
                <a:ea typeface="+mn-ea"/>
                <a:cs typeface="Arial" pitchFamily="34" charset="0"/>
              </a:defRPr>
            </a:lvl4pPr>
            <a:lvl5pPr marL="2343150" indent="-514350" algn="l" rtl="0" eaLnBrk="0" fontAlgn="base" hangingPunct="0">
              <a:spcBef>
                <a:spcPct val="0"/>
              </a:spcBef>
              <a:spcAft>
                <a:spcPct val="0"/>
              </a:spcAft>
              <a:defRPr kern="1200">
                <a:solidFill>
                  <a:schemeClr val="tx1"/>
                </a:solidFill>
                <a:latin typeface="Arial" pitchFamily="34" charset="0"/>
                <a:ea typeface="+mn-ea"/>
                <a:cs typeface="Arial" pitchFamily="34" charset="0"/>
              </a:defRPr>
            </a:lvl5pPr>
            <a:lvl6pPr marL="2286000" algn="l" defTabSz="914400" rtl="0" eaLnBrk="1" latinLnBrk="0" hangingPunct="1">
              <a:defRPr kern="1200">
                <a:solidFill>
                  <a:schemeClr val="tx1"/>
                </a:solidFill>
                <a:latin typeface="Arial" pitchFamily="34" charset="0"/>
                <a:ea typeface="+mn-ea"/>
                <a:cs typeface="Arial" pitchFamily="34" charset="0"/>
              </a:defRPr>
            </a:lvl6pPr>
            <a:lvl7pPr marL="2743200" algn="l" defTabSz="914400" rtl="0" eaLnBrk="1" latinLnBrk="0" hangingPunct="1">
              <a:defRPr kern="1200">
                <a:solidFill>
                  <a:schemeClr val="tx1"/>
                </a:solidFill>
                <a:latin typeface="Arial" pitchFamily="34" charset="0"/>
                <a:ea typeface="+mn-ea"/>
                <a:cs typeface="Arial" pitchFamily="34" charset="0"/>
              </a:defRPr>
            </a:lvl7pPr>
            <a:lvl8pPr marL="3200400" algn="l" defTabSz="914400" rtl="0" eaLnBrk="1" latinLnBrk="0" hangingPunct="1">
              <a:defRPr kern="1200">
                <a:solidFill>
                  <a:schemeClr val="tx1"/>
                </a:solidFill>
                <a:latin typeface="Arial" pitchFamily="34" charset="0"/>
                <a:ea typeface="+mn-ea"/>
                <a:cs typeface="Arial" pitchFamily="34" charset="0"/>
              </a:defRPr>
            </a:lvl8pPr>
            <a:lvl9pPr marL="3657600" algn="l" defTabSz="914400" rtl="0" eaLnBrk="1" latinLnBrk="0" hangingPunct="1">
              <a:defRPr kern="1200">
                <a:solidFill>
                  <a:schemeClr val="tx1"/>
                </a:solidFill>
                <a:latin typeface="Arial" pitchFamily="34" charset="0"/>
                <a:ea typeface="+mn-ea"/>
                <a:cs typeface="Arial" pitchFamily="34" charset="0"/>
              </a:defRPr>
            </a:lvl9pPr>
          </a:lstStyle>
          <a:p>
            <a:pPr>
              <a:defRPr/>
            </a:pPr>
            <a:fld id="{AE337E8D-8E3A-4B5F-8907-939E82BFD863}" type="datetime3">
              <a:rPr lang="en-US" smtClean="0"/>
              <a:pPr>
                <a:defRPr/>
              </a:pPr>
              <a:t>24 August 2026</a:t>
            </a:fld>
            <a:endParaRPr lang="en-US" altLang="en-US"/>
          </a:p>
        </p:txBody>
      </p:sp>
      <p:sp>
        <p:nvSpPr>
          <p:cNvPr id="108547" name="Oval 3" descr="Parchment">
            <a:extLst>
              <a:ext uri="{FF2B5EF4-FFF2-40B4-BE49-F238E27FC236}">
                <a16:creationId xmlns:a16="http://schemas.microsoft.com/office/drawing/2014/main" id="{FC677204-FEB7-0E5D-0CAF-2A857F7CBECC}"/>
              </a:ext>
            </a:extLst>
          </p:cNvPr>
          <p:cNvSpPr>
            <a:spLocks noChangeArrowheads="1"/>
          </p:cNvSpPr>
          <p:nvPr/>
        </p:nvSpPr>
        <p:spPr bwMode="auto">
          <a:xfrm>
            <a:off x="1406769" y="473612"/>
            <a:ext cx="13680831" cy="792480"/>
          </a:xfrm>
          <a:prstGeom prst="ellipse">
            <a:avLst/>
          </a:prstGeom>
          <a:blipFill dpi="0" rotWithShape="1">
            <a:blip r:embed="rId2"/>
            <a:srcRect/>
            <a:tile tx="0" ty="0" sx="100000" sy="100000" flip="none" algn="tl"/>
          </a:blipFill>
          <a:ln w="9525">
            <a:solidFill>
              <a:schemeClr val="tx1"/>
            </a:solidFill>
            <a:round/>
            <a:headEnd/>
            <a:tailEnd/>
          </a:ln>
        </p:spPr>
        <p:txBody>
          <a:bodyPr wrap="none" lIns="105487" tIns="52744" rIns="105487" bIns="52744" anchor="ct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a:r>
              <a:rPr lang="en-US" altLang="en-US" sz="4320" b="1" dirty="0">
                <a:solidFill>
                  <a:srgbClr val="E200E2"/>
                </a:solidFill>
                <a:latin typeface="Britannic Bold" pitchFamily="34" charset="0"/>
              </a:rPr>
              <a:t>Presentation: Course Outcomes and Rubrics</a:t>
            </a:r>
          </a:p>
        </p:txBody>
      </p:sp>
      <p:graphicFrame>
        <p:nvGraphicFramePr>
          <p:cNvPr id="4" name="Table 3">
            <a:extLst>
              <a:ext uri="{FF2B5EF4-FFF2-40B4-BE49-F238E27FC236}">
                <a16:creationId xmlns:a16="http://schemas.microsoft.com/office/drawing/2014/main" id="{C7BE8CBC-F6F3-191D-986A-306B5F9856AD}"/>
              </a:ext>
            </a:extLst>
          </p:cNvPr>
          <p:cNvGraphicFramePr>
            <a:graphicFrameLocks noGrp="1"/>
          </p:cNvGraphicFramePr>
          <p:nvPr>
            <p:extLst>
              <p:ext uri="{D42A27DB-BD31-4B8C-83A1-F6EECF244321}">
                <p14:modId xmlns:p14="http://schemas.microsoft.com/office/powerpoint/2010/main" val="1623586911"/>
              </p:ext>
            </p:extLst>
          </p:nvPr>
        </p:nvGraphicFramePr>
        <p:xfrm>
          <a:off x="164122" y="4734716"/>
          <a:ext cx="16142677" cy="3017520"/>
        </p:xfrm>
        <a:graphic>
          <a:graphicData uri="http://schemas.openxmlformats.org/drawingml/2006/table">
            <a:tbl>
              <a:tblPr firstRow="1" firstCol="1" bandRow="1">
                <a:tableStyleId>{5C22544A-7EE6-4342-B048-85BDC9FD1C3A}</a:tableStyleId>
              </a:tblPr>
              <a:tblGrid>
                <a:gridCol w="1065914">
                  <a:extLst>
                    <a:ext uri="{9D8B030D-6E8A-4147-A177-3AD203B41FA5}">
                      <a16:colId xmlns:a16="http://schemas.microsoft.com/office/drawing/2014/main" val="3276018327"/>
                    </a:ext>
                  </a:extLst>
                </a:gridCol>
                <a:gridCol w="2901656">
                  <a:extLst>
                    <a:ext uri="{9D8B030D-6E8A-4147-A177-3AD203B41FA5}">
                      <a16:colId xmlns:a16="http://schemas.microsoft.com/office/drawing/2014/main" val="628856695"/>
                    </a:ext>
                  </a:extLst>
                </a:gridCol>
                <a:gridCol w="3136616">
                  <a:extLst>
                    <a:ext uri="{9D8B030D-6E8A-4147-A177-3AD203B41FA5}">
                      <a16:colId xmlns:a16="http://schemas.microsoft.com/office/drawing/2014/main" val="3642968354"/>
                    </a:ext>
                  </a:extLst>
                </a:gridCol>
                <a:gridCol w="3399692">
                  <a:extLst>
                    <a:ext uri="{9D8B030D-6E8A-4147-A177-3AD203B41FA5}">
                      <a16:colId xmlns:a16="http://schemas.microsoft.com/office/drawing/2014/main" val="3778348326"/>
                    </a:ext>
                  </a:extLst>
                </a:gridCol>
                <a:gridCol w="3341077">
                  <a:extLst>
                    <a:ext uri="{9D8B030D-6E8A-4147-A177-3AD203B41FA5}">
                      <a16:colId xmlns:a16="http://schemas.microsoft.com/office/drawing/2014/main" val="835189548"/>
                    </a:ext>
                  </a:extLst>
                </a:gridCol>
                <a:gridCol w="1371600">
                  <a:extLst>
                    <a:ext uri="{9D8B030D-6E8A-4147-A177-3AD203B41FA5}">
                      <a16:colId xmlns:a16="http://schemas.microsoft.com/office/drawing/2014/main" val="2403334972"/>
                    </a:ext>
                  </a:extLst>
                </a:gridCol>
                <a:gridCol w="926122">
                  <a:extLst>
                    <a:ext uri="{9D8B030D-6E8A-4147-A177-3AD203B41FA5}">
                      <a16:colId xmlns:a16="http://schemas.microsoft.com/office/drawing/2014/main" val="2319845994"/>
                    </a:ext>
                  </a:extLst>
                </a:gridCol>
              </a:tblGrid>
              <a:tr h="353695">
                <a:tc>
                  <a:txBody>
                    <a:bodyPr/>
                    <a:lstStyle/>
                    <a:p>
                      <a:pPr marL="0" marR="0" algn="ctr">
                        <a:lnSpc>
                          <a:spcPct val="100000"/>
                        </a:lnSpc>
                        <a:spcAft>
                          <a:spcPts val="0"/>
                        </a:spcAft>
                        <a:buNone/>
                      </a:pPr>
                      <a:r>
                        <a:rPr lang="en-US" sz="1800">
                          <a:effectLst/>
                          <a:latin typeface="Times New Roman" panose="02020603050405020304" pitchFamily="18" charset="0"/>
                          <a:cs typeface="Times New Roman" panose="02020603050405020304" pitchFamily="18" charset="0"/>
                        </a:rPr>
                        <a:t>CO-POI</a:t>
                      </a:r>
                      <a:endParaRPr lang="en-US" sz="2800">
                        <a:effectLst/>
                        <a:latin typeface="Times New Roman" panose="02020603050405020304" pitchFamily="18" charset="0"/>
                        <a:ea typeface="Calibri" panose="020F0502020204030204" pitchFamily="34" charset="0"/>
                        <a:cs typeface="Times New Roman" panose="02020603050405020304" pitchFamily="18" charset="0"/>
                      </a:endParaRPr>
                    </a:p>
                  </a:txBody>
                  <a:tcPr marL="8890" marR="8890" marT="0" marB="0" anchor="ctr"/>
                </a:tc>
                <a:tc>
                  <a:txBody>
                    <a:bodyPr/>
                    <a:lstStyle/>
                    <a:p>
                      <a:pPr marL="0" marR="0" algn="ctr">
                        <a:lnSpc>
                          <a:spcPct val="100000"/>
                        </a:lnSpc>
                        <a:spcAft>
                          <a:spcPts val="0"/>
                        </a:spcAft>
                        <a:buNone/>
                      </a:pPr>
                      <a:r>
                        <a:rPr lang="en-US" sz="1800" dirty="0">
                          <a:effectLst/>
                          <a:latin typeface="Times New Roman" panose="02020603050405020304" pitchFamily="18" charset="0"/>
                          <a:cs typeface="Times New Roman" panose="02020603050405020304" pitchFamily="18" charset="0"/>
                        </a:rPr>
                        <a:t>Excellent to proficient</a:t>
                      </a:r>
                      <a:endParaRPr lang="en-US" sz="2800" dirty="0">
                        <a:effectLst/>
                        <a:latin typeface="Times New Roman" panose="02020603050405020304" pitchFamily="18" charset="0"/>
                        <a:cs typeface="Times New Roman" panose="02020603050405020304" pitchFamily="18" charset="0"/>
                      </a:endParaRPr>
                    </a:p>
                    <a:p>
                      <a:pPr marL="0" marR="0" algn="ctr">
                        <a:lnSpc>
                          <a:spcPct val="100000"/>
                        </a:lnSpc>
                        <a:spcAft>
                          <a:spcPts val="0"/>
                        </a:spcAft>
                        <a:buNone/>
                      </a:pPr>
                      <a:r>
                        <a:rPr lang="en-US" sz="1800" dirty="0">
                          <a:effectLst/>
                          <a:latin typeface="Times New Roman" panose="02020603050405020304" pitchFamily="18" charset="0"/>
                          <a:cs typeface="Times New Roman" panose="02020603050405020304" pitchFamily="18" charset="0"/>
                        </a:rPr>
                        <a:t>[12 to 15]</a:t>
                      </a:r>
                      <a:endParaRPr lang="en-US" sz="2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8890" marR="8890" marT="0" marB="0" anchor="ctr"/>
                </a:tc>
                <a:tc>
                  <a:txBody>
                    <a:bodyPr/>
                    <a:lstStyle/>
                    <a:p>
                      <a:pPr marL="0" marR="0" algn="ctr">
                        <a:lnSpc>
                          <a:spcPct val="100000"/>
                        </a:lnSpc>
                        <a:spcAft>
                          <a:spcPts val="0"/>
                        </a:spcAft>
                        <a:buNone/>
                      </a:pPr>
                      <a:r>
                        <a:rPr lang="en-US" sz="1800" dirty="0">
                          <a:effectLst/>
                          <a:latin typeface="Times New Roman" panose="02020603050405020304" pitchFamily="18" charset="0"/>
                          <a:cs typeface="Times New Roman" panose="02020603050405020304" pitchFamily="18" charset="0"/>
                        </a:rPr>
                        <a:t>Good</a:t>
                      </a:r>
                      <a:endParaRPr lang="en-US" sz="2800" dirty="0">
                        <a:effectLst/>
                        <a:latin typeface="Times New Roman" panose="02020603050405020304" pitchFamily="18" charset="0"/>
                        <a:cs typeface="Times New Roman" panose="02020603050405020304" pitchFamily="18" charset="0"/>
                      </a:endParaRPr>
                    </a:p>
                    <a:p>
                      <a:pPr marL="0" marR="0" algn="ctr">
                        <a:lnSpc>
                          <a:spcPct val="100000"/>
                        </a:lnSpc>
                        <a:spcAft>
                          <a:spcPts val="0"/>
                        </a:spcAft>
                        <a:buNone/>
                      </a:pPr>
                      <a:r>
                        <a:rPr lang="en-US" sz="1800" dirty="0">
                          <a:effectLst/>
                          <a:latin typeface="Times New Roman" panose="02020603050405020304" pitchFamily="18" charset="0"/>
                          <a:cs typeface="Times New Roman" panose="02020603050405020304" pitchFamily="18" charset="0"/>
                        </a:rPr>
                        <a:t>[8 to 11]</a:t>
                      </a:r>
                      <a:endParaRPr lang="en-US" sz="2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8890" marR="8890" marT="0" marB="0" anchor="ctr"/>
                </a:tc>
                <a:tc>
                  <a:txBody>
                    <a:bodyPr/>
                    <a:lstStyle/>
                    <a:p>
                      <a:pPr marL="0" marR="0" algn="ctr">
                        <a:lnSpc>
                          <a:spcPct val="100000"/>
                        </a:lnSpc>
                        <a:spcAft>
                          <a:spcPts val="0"/>
                        </a:spcAft>
                        <a:buNone/>
                      </a:pPr>
                      <a:r>
                        <a:rPr lang="en-US" sz="1800" dirty="0">
                          <a:effectLst/>
                          <a:latin typeface="Times New Roman" panose="02020603050405020304" pitchFamily="18" charset="0"/>
                          <a:cs typeface="Times New Roman" panose="02020603050405020304" pitchFamily="18" charset="0"/>
                        </a:rPr>
                        <a:t>Acceptable</a:t>
                      </a:r>
                      <a:endParaRPr lang="en-US" sz="2800" dirty="0">
                        <a:effectLst/>
                        <a:latin typeface="Times New Roman" panose="02020603050405020304" pitchFamily="18" charset="0"/>
                        <a:cs typeface="Times New Roman" panose="02020603050405020304" pitchFamily="18" charset="0"/>
                      </a:endParaRPr>
                    </a:p>
                    <a:p>
                      <a:pPr marL="0" marR="0" algn="ctr">
                        <a:lnSpc>
                          <a:spcPct val="100000"/>
                        </a:lnSpc>
                        <a:spcAft>
                          <a:spcPts val="0"/>
                        </a:spcAft>
                        <a:buNone/>
                      </a:pPr>
                      <a:r>
                        <a:rPr lang="en-US" sz="1800" dirty="0">
                          <a:effectLst/>
                          <a:latin typeface="Times New Roman" panose="02020603050405020304" pitchFamily="18" charset="0"/>
                          <a:cs typeface="Times New Roman" panose="02020603050405020304" pitchFamily="18" charset="0"/>
                        </a:rPr>
                        <a:t>[4 to 7]</a:t>
                      </a:r>
                      <a:endParaRPr lang="en-US" sz="2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8890" marR="8890" marT="0" marB="0" anchor="ctr"/>
                </a:tc>
                <a:tc>
                  <a:txBody>
                    <a:bodyPr/>
                    <a:lstStyle/>
                    <a:p>
                      <a:pPr marL="0" marR="0" algn="ctr">
                        <a:lnSpc>
                          <a:spcPct val="100000"/>
                        </a:lnSpc>
                        <a:spcAft>
                          <a:spcPts val="0"/>
                        </a:spcAft>
                        <a:buNone/>
                      </a:pPr>
                      <a:r>
                        <a:rPr lang="en-US" sz="1800" dirty="0">
                          <a:effectLst/>
                          <a:latin typeface="Times New Roman" panose="02020603050405020304" pitchFamily="18" charset="0"/>
                          <a:cs typeface="Times New Roman" panose="02020603050405020304" pitchFamily="18" charset="0"/>
                        </a:rPr>
                        <a:t>Unacceptable</a:t>
                      </a:r>
                      <a:endParaRPr lang="en-US" sz="2800" dirty="0">
                        <a:effectLst/>
                        <a:latin typeface="Times New Roman" panose="02020603050405020304" pitchFamily="18" charset="0"/>
                        <a:cs typeface="Times New Roman" panose="02020603050405020304" pitchFamily="18" charset="0"/>
                      </a:endParaRPr>
                    </a:p>
                    <a:p>
                      <a:pPr marL="0" marR="0" algn="ctr">
                        <a:lnSpc>
                          <a:spcPct val="100000"/>
                        </a:lnSpc>
                        <a:spcAft>
                          <a:spcPts val="0"/>
                        </a:spcAft>
                        <a:buNone/>
                      </a:pPr>
                      <a:r>
                        <a:rPr lang="en-US" sz="1800" dirty="0">
                          <a:effectLst/>
                          <a:latin typeface="Times New Roman" panose="02020603050405020304" pitchFamily="18" charset="0"/>
                          <a:cs typeface="Times New Roman" panose="02020603050405020304" pitchFamily="18" charset="0"/>
                        </a:rPr>
                        <a:t>[1 to 3]</a:t>
                      </a:r>
                      <a:endParaRPr lang="en-US" sz="2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8890" marR="8890" marT="0" marB="0" anchor="ctr"/>
                </a:tc>
                <a:tc>
                  <a:txBody>
                    <a:bodyPr/>
                    <a:lstStyle/>
                    <a:p>
                      <a:pPr marL="0" marR="0" algn="ctr">
                        <a:lnSpc>
                          <a:spcPct val="100000"/>
                        </a:lnSpc>
                        <a:spcAft>
                          <a:spcPts val="0"/>
                        </a:spcAft>
                        <a:buNone/>
                      </a:pPr>
                      <a:r>
                        <a:rPr lang="en-US" sz="1800">
                          <a:effectLst/>
                          <a:latin typeface="Times New Roman" panose="02020603050405020304" pitchFamily="18" charset="0"/>
                          <a:cs typeface="Times New Roman" panose="02020603050405020304" pitchFamily="18" charset="0"/>
                        </a:rPr>
                        <a:t>No Response</a:t>
                      </a:r>
                      <a:endParaRPr lang="en-US" sz="2800">
                        <a:effectLst/>
                        <a:latin typeface="Times New Roman" panose="02020603050405020304" pitchFamily="18" charset="0"/>
                        <a:cs typeface="Times New Roman" panose="02020603050405020304" pitchFamily="18" charset="0"/>
                      </a:endParaRPr>
                    </a:p>
                    <a:p>
                      <a:pPr marL="0" marR="0" algn="ctr">
                        <a:lnSpc>
                          <a:spcPct val="100000"/>
                        </a:lnSpc>
                        <a:spcAft>
                          <a:spcPts val="0"/>
                        </a:spcAft>
                        <a:buNone/>
                      </a:pPr>
                      <a:r>
                        <a:rPr lang="en-US" sz="1800">
                          <a:effectLst/>
                          <a:latin typeface="Times New Roman" panose="02020603050405020304" pitchFamily="18" charset="0"/>
                          <a:cs typeface="Times New Roman" panose="02020603050405020304" pitchFamily="18" charset="0"/>
                        </a:rPr>
                        <a:t>[0]</a:t>
                      </a:r>
                      <a:endParaRPr lang="en-US" sz="2800">
                        <a:effectLst/>
                        <a:latin typeface="Times New Roman" panose="02020603050405020304" pitchFamily="18" charset="0"/>
                        <a:ea typeface="Calibri" panose="020F0502020204030204" pitchFamily="34" charset="0"/>
                        <a:cs typeface="Times New Roman" panose="02020603050405020304" pitchFamily="18" charset="0"/>
                      </a:endParaRPr>
                    </a:p>
                  </a:txBody>
                  <a:tcPr marL="8890" marR="8890" marT="0" marB="0" anchor="ctr"/>
                </a:tc>
                <a:tc>
                  <a:txBody>
                    <a:bodyPr/>
                    <a:lstStyle/>
                    <a:p>
                      <a:pPr marL="0" marR="0" algn="ctr">
                        <a:lnSpc>
                          <a:spcPct val="100000"/>
                        </a:lnSpc>
                        <a:spcAft>
                          <a:spcPts val="0"/>
                        </a:spcAft>
                        <a:buNone/>
                      </a:pPr>
                      <a:r>
                        <a:rPr lang="en-US" sz="1800">
                          <a:effectLst/>
                          <a:latin typeface="Times New Roman" panose="02020603050405020304" pitchFamily="18" charset="0"/>
                          <a:cs typeface="Times New Roman" panose="02020603050405020304" pitchFamily="18" charset="0"/>
                        </a:rPr>
                        <a:t>Secured Marks</a:t>
                      </a:r>
                      <a:endParaRPr lang="en-US" sz="2800">
                        <a:effectLst/>
                        <a:latin typeface="Times New Roman" panose="02020603050405020304" pitchFamily="18" charset="0"/>
                        <a:ea typeface="Calibri" panose="020F0502020204030204" pitchFamily="34" charset="0"/>
                        <a:cs typeface="Times New Roman" panose="02020603050405020304" pitchFamily="18" charset="0"/>
                      </a:endParaRPr>
                    </a:p>
                  </a:txBody>
                  <a:tcPr marL="8890" marR="8890" marT="0" marB="0" anchor="ctr"/>
                </a:tc>
                <a:extLst>
                  <a:ext uri="{0D108BD9-81ED-4DB2-BD59-A6C34878D82A}">
                    <a16:rowId xmlns:a16="http://schemas.microsoft.com/office/drawing/2014/main" val="1146782025"/>
                  </a:ext>
                </a:extLst>
              </a:tr>
              <a:tr h="443865">
                <a:tc>
                  <a:txBody>
                    <a:bodyPr/>
                    <a:lstStyle/>
                    <a:p>
                      <a:pPr marL="0" marR="0" algn="ctr">
                        <a:lnSpc>
                          <a:spcPct val="100000"/>
                        </a:lnSpc>
                        <a:spcAft>
                          <a:spcPts val="0"/>
                        </a:spcAft>
                        <a:buNone/>
                      </a:pPr>
                      <a:r>
                        <a:rPr lang="en-US" sz="1800">
                          <a:effectLst/>
                          <a:latin typeface="Times New Roman" panose="02020603050405020304" pitchFamily="18" charset="0"/>
                          <a:cs typeface="Times New Roman" panose="02020603050405020304" pitchFamily="18" charset="0"/>
                        </a:rPr>
                        <a:t>CO4</a:t>
                      </a:r>
                      <a:endParaRPr lang="en-US" sz="2800">
                        <a:effectLst/>
                        <a:latin typeface="Times New Roman" panose="02020603050405020304" pitchFamily="18" charset="0"/>
                        <a:cs typeface="Times New Roman" panose="02020603050405020304" pitchFamily="18" charset="0"/>
                      </a:endParaRPr>
                    </a:p>
                    <a:p>
                      <a:pPr marL="0" marR="0" algn="ctr">
                        <a:lnSpc>
                          <a:spcPct val="100000"/>
                        </a:lnSpc>
                        <a:spcAft>
                          <a:spcPts val="0"/>
                        </a:spcAft>
                        <a:buNone/>
                      </a:pPr>
                      <a:r>
                        <a:rPr lang="en-GB" sz="1800">
                          <a:effectLst/>
                          <a:latin typeface="Times New Roman" panose="02020603050405020304" pitchFamily="18" charset="0"/>
                          <a:cs typeface="Times New Roman" panose="02020603050405020304" pitchFamily="18" charset="0"/>
                        </a:rPr>
                        <a:t>P.j.3.A4</a:t>
                      </a:r>
                      <a:endParaRPr lang="en-US" sz="2800">
                        <a:effectLst/>
                        <a:latin typeface="Times New Roman" panose="02020603050405020304" pitchFamily="18" charset="0"/>
                        <a:ea typeface="Calibri" panose="020F0502020204030204" pitchFamily="34" charset="0"/>
                        <a:cs typeface="Times New Roman" panose="02020603050405020304" pitchFamily="18" charset="0"/>
                      </a:endParaRPr>
                    </a:p>
                  </a:txBody>
                  <a:tcPr marL="8890" marR="8890" marT="0" marB="0" anchor="ctr"/>
                </a:tc>
                <a:tc>
                  <a:txBody>
                    <a:bodyPr/>
                    <a:lstStyle/>
                    <a:p>
                      <a:pPr marL="0" marR="0" algn="ctr">
                        <a:lnSpc>
                          <a:spcPct val="100000"/>
                        </a:lnSpc>
                        <a:spcAft>
                          <a:spcPts val="0"/>
                        </a:spcAft>
                        <a:buNone/>
                      </a:pPr>
                      <a:r>
                        <a:rPr lang="en-US" sz="1800" dirty="0">
                          <a:effectLst/>
                          <a:latin typeface="Times New Roman" panose="02020603050405020304" pitchFamily="18" charset="0"/>
                          <a:cs typeface="Times New Roman" panose="02020603050405020304" pitchFamily="18" charset="0"/>
                        </a:rPr>
                        <a:t>The presentation explains the complex engineering activities of a course project solving a complex engineering problem of the electrical and electronic engineering discipline incorporating all points.</a:t>
                      </a:r>
                      <a:endParaRPr lang="en-US" sz="2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8890" marR="8890" marT="0" marB="0" anchor="ctr"/>
                </a:tc>
                <a:tc>
                  <a:txBody>
                    <a:bodyPr/>
                    <a:lstStyle/>
                    <a:p>
                      <a:pPr marL="0" marR="0" algn="ctr">
                        <a:lnSpc>
                          <a:spcPct val="100000"/>
                        </a:lnSpc>
                        <a:spcAft>
                          <a:spcPts val="0"/>
                        </a:spcAft>
                        <a:buNone/>
                      </a:pPr>
                      <a:r>
                        <a:rPr lang="en-US" sz="1800" dirty="0">
                          <a:effectLst/>
                          <a:latin typeface="Times New Roman" panose="02020603050405020304" pitchFamily="18" charset="0"/>
                          <a:cs typeface="Times New Roman" panose="02020603050405020304" pitchFamily="18" charset="0"/>
                        </a:rPr>
                        <a:t>The presentation somewhat explains the complex engineering activities of a course project solving a complex engineering problem of the electrical and electronic engineering discipline but not incorporating all points.</a:t>
                      </a:r>
                      <a:endParaRPr lang="en-US" sz="2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8890" marR="8890" marT="0" marB="0" anchor="ctr"/>
                </a:tc>
                <a:tc>
                  <a:txBody>
                    <a:bodyPr/>
                    <a:lstStyle/>
                    <a:p>
                      <a:pPr marL="0" marR="0" algn="ctr">
                        <a:lnSpc>
                          <a:spcPct val="100000"/>
                        </a:lnSpc>
                        <a:spcAft>
                          <a:spcPts val="0"/>
                        </a:spcAft>
                        <a:buNone/>
                      </a:pPr>
                      <a:r>
                        <a:rPr lang="en-US" sz="1800" dirty="0">
                          <a:effectLst/>
                          <a:latin typeface="Times New Roman" panose="02020603050405020304" pitchFamily="18" charset="0"/>
                          <a:cs typeface="Times New Roman" panose="02020603050405020304" pitchFamily="18" charset="0"/>
                        </a:rPr>
                        <a:t>The presentation does explain the complex engineering activities of a course project but fails to solve a complex engineering problem of the electrical and electronic engineering discipline but missing some important points.</a:t>
                      </a:r>
                      <a:endParaRPr lang="en-US" sz="2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8890" marR="8890" marT="0" marB="0" anchor="ctr"/>
                </a:tc>
                <a:tc>
                  <a:txBody>
                    <a:bodyPr/>
                    <a:lstStyle/>
                    <a:p>
                      <a:pPr marL="0" marR="0" algn="ctr">
                        <a:lnSpc>
                          <a:spcPct val="100000"/>
                        </a:lnSpc>
                        <a:spcAft>
                          <a:spcPts val="0"/>
                        </a:spcAft>
                        <a:buNone/>
                      </a:pPr>
                      <a:r>
                        <a:rPr lang="en-US" sz="1800" dirty="0">
                          <a:effectLst/>
                          <a:latin typeface="Times New Roman" panose="02020603050405020304" pitchFamily="18" charset="0"/>
                          <a:cs typeface="Times New Roman" panose="02020603050405020304" pitchFamily="18" charset="0"/>
                        </a:rPr>
                        <a:t>The presentation does not explain the complex engineering activities of a course project and fails to solve a complex engineering problem of the electrical and electronic engineering discipline but missing most of the points.</a:t>
                      </a:r>
                      <a:endParaRPr lang="en-US" sz="2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8890" marR="8890" marT="0" marB="0" anchor="ctr"/>
                </a:tc>
                <a:tc>
                  <a:txBody>
                    <a:bodyPr/>
                    <a:lstStyle/>
                    <a:p>
                      <a:pPr marL="0" marR="0" algn="ctr">
                        <a:lnSpc>
                          <a:spcPct val="100000"/>
                        </a:lnSpc>
                        <a:spcAft>
                          <a:spcPts val="0"/>
                        </a:spcAft>
                        <a:buNone/>
                      </a:pPr>
                      <a:r>
                        <a:rPr lang="en-US" sz="1800">
                          <a:effectLst/>
                          <a:latin typeface="Times New Roman" panose="02020603050405020304" pitchFamily="18" charset="0"/>
                          <a:cs typeface="Times New Roman" panose="02020603050405020304" pitchFamily="18" charset="0"/>
                        </a:rPr>
                        <a:t>No Response</a:t>
                      </a:r>
                      <a:endParaRPr lang="en-US" sz="2800">
                        <a:effectLst/>
                        <a:latin typeface="Times New Roman" panose="02020603050405020304" pitchFamily="18" charset="0"/>
                        <a:ea typeface="Calibri" panose="020F0502020204030204" pitchFamily="34" charset="0"/>
                        <a:cs typeface="Times New Roman" panose="02020603050405020304" pitchFamily="18" charset="0"/>
                      </a:endParaRPr>
                    </a:p>
                  </a:txBody>
                  <a:tcPr marL="8890" marR="8890" marT="0" marB="0" anchor="ctr"/>
                </a:tc>
                <a:tc>
                  <a:txBody>
                    <a:bodyPr/>
                    <a:lstStyle/>
                    <a:p>
                      <a:pPr marL="0" marR="0" algn="ctr">
                        <a:lnSpc>
                          <a:spcPct val="100000"/>
                        </a:lnSpc>
                        <a:spcAft>
                          <a:spcPts val="0"/>
                        </a:spcAft>
                        <a:buNone/>
                      </a:pPr>
                      <a:r>
                        <a:rPr lang="en-US" sz="1800" dirty="0">
                          <a:effectLst/>
                          <a:latin typeface="Times New Roman" panose="02020603050405020304" pitchFamily="18" charset="0"/>
                          <a:cs typeface="Times New Roman" panose="02020603050405020304" pitchFamily="18" charset="0"/>
                        </a:rPr>
                        <a:t> </a:t>
                      </a:r>
                      <a:endParaRPr lang="en-US" sz="2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8890" marR="8890" marT="0" marB="0" anchor="ctr"/>
                </a:tc>
                <a:extLst>
                  <a:ext uri="{0D108BD9-81ED-4DB2-BD59-A6C34878D82A}">
                    <a16:rowId xmlns:a16="http://schemas.microsoft.com/office/drawing/2014/main" val="2887692753"/>
                  </a:ext>
                </a:extLst>
              </a:tr>
              <a:tr h="269875">
                <a:tc gridSpan="5">
                  <a:txBody>
                    <a:bodyPr/>
                    <a:lstStyle/>
                    <a:p>
                      <a:pPr marL="0" marR="0" algn="l">
                        <a:lnSpc>
                          <a:spcPct val="100000"/>
                        </a:lnSpc>
                        <a:spcAft>
                          <a:spcPts val="0"/>
                        </a:spcAft>
                        <a:buNone/>
                      </a:pPr>
                      <a:r>
                        <a:rPr lang="en-US" sz="1800" dirty="0">
                          <a:effectLst/>
                          <a:latin typeface="Times New Roman" panose="02020603050405020304" pitchFamily="18" charset="0"/>
                          <a:cs typeface="Times New Roman" panose="02020603050405020304" pitchFamily="18" charset="0"/>
                        </a:rPr>
                        <a:t>Comments:</a:t>
                      </a:r>
                      <a:endParaRPr lang="en-US" sz="2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8890" marR="8890"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algn="ctr">
                        <a:lnSpc>
                          <a:spcPct val="100000"/>
                        </a:lnSpc>
                        <a:spcAft>
                          <a:spcPts val="0"/>
                        </a:spcAft>
                        <a:buNone/>
                      </a:pPr>
                      <a:r>
                        <a:rPr lang="en-US" sz="1800" b="1" dirty="0">
                          <a:effectLst/>
                          <a:latin typeface="Times New Roman" panose="02020603050405020304" pitchFamily="18" charset="0"/>
                          <a:cs typeface="Times New Roman" panose="02020603050405020304" pitchFamily="18" charset="0"/>
                        </a:rPr>
                        <a:t>Total Marks (15)</a:t>
                      </a:r>
                      <a:endParaRPr lang="en-US" sz="28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8890" marR="8890" marT="0" marB="0" anchor="ctr"/>
                </a:tc>
                <a:tc>
                  <a:txBody>
                    <a:bodyPr/>
                    <a:lstStyle/>
                    <a:p>
                      <a:pPr marL="0" marR="0" algn="ctr">
                        <a:lnSpc>
                          <a:spcPct val="100000"/>
                        </a:lnSpc>
                        <a:spcAft>
                          <a:spcPts val="0"/>
                        </a:spcAft>
                        <a:buNone/>
                      </a:pPr>
                      <a:r>
                        <a:rPr lang="en-US" sz="1800" dirty="0">
                          <a:effectLst/>
                          <a:latin typeface="Times New Roman" panose="02020603050405020304" pitchFamily="18" charset="0"/>
                          <a:cs typeface="Times New Roman" panose="02020603050405020304" pitchFamily="18" charset="0"/>
                        </a:rPr>
                        <a:t> </a:t>
                      </a:r>
                      <a:endParaRPr lang="en-US" sz="2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8890" marR="8890" marT="0" marB="0" anchor="ctr"/>
                </a:tc>
                <a:extLst>
                  <a:ext uri="{0D108BD9-81ED-4DB2-BD59-A6C34878D82A}">
                    <a16:rowId xmlns:a16="http://schemas.microsoft.com/office/drawing/2014/main" val="2275837149"/>
                  </a:ext>
                </a:extLst>
              </a:tr>
            </a:tbl>
          </a:graphicData>
        </a:graphic>
      </p:graphicFrame>
      <p:graphicFrame>
        <p:nvGraphicFramePr>
          <p:cNvPr id="5" name="Table 4">
            <a:extLst>
              <a:ext uri="{FF2B5EF4-FFF2-40B4-BE49-F238E27FC236}">
                <a16:creationId xmlns:a16="http://schemas.microsoft.com/office/drawing/2014/main" id="{1E5BBE53-7C36-ADC9-61A5-FDEE8B39924A}"/>
              </a:ext>
            </a:extLst>
          </p:cNvPr>
          <p:cNvGraphicFramePr>
            <a:graphicFrameLocks noGrp="1"/>
          </p:cNvGraphicFramePr>
          <p:nvPr>
            <p:extLst>
              <p:ext uri="{D42A27DB-BD31-4B8C-83A1-F6EECF244321}">
                <p14:modId xmlns:p14="http://schemas.microsoft.com/office/powerpoint/2010/main" val="4136639301"/>
              </p:ext>
            </p:extLst>
          </p:nvPr>
        </p:nvGraphicFramePr>
        <p:xfrm>
          <a:off x="164122" y="2080300"/>
          <a:ext cx="16184880" cy="1463040"/>
        </p:xfrm>
        <a:graphic>
          <a:graphicData uri="http://schemas.openxmlformats.org/drawingml/2006/table">
            <a:tbl>
              <a:tblPr firstRow="1" firstCol="1" bandRow="1">
                <a:tableStyleId>{5C22544A-7EE6-4342-B048-85BDC9FD1C3A}</a:tableStyleId>
              </a:tblPr>
              <a:tblGrid>
                <a:gridCol w="914400">
                  <a:extLst>
                    <a:ext uri="{9D8B030D-6E8A-4147-A177-3AD203B41FA5}">
                      <a16:colId xmlns:a16="http://schemas.microsoft.com/office/drawing/2014/main" val="30122193"/>
                    </a:ext>
                  </a:extLst>
                </a:gridCol>
                <a:gridCol w="10972800">
                  <a:extLst>
                    <a:ext uri="{9D8B030D-6E8A-4147-A177-3AD203B41FA5}">
                      <a16:colId xmlns:a16="http://schemas.microsoft.com/office/drawing/2014/main" val="4139166950"/>
                    </a:ext>
                  </a:extLst>
                </a:gridCol>
                <a:gridCol w="1280160">
                  <a:extLst>
                    <a:ext uri="{9D8B030D-6E8A-4147-A177-3AD203B41FA5}">
                      <a16:colId xmlns:a16="http://schemas.microsoft.com/office/drawing/2014/main" val="1801449466"/>
                    </a:ext>
                  </a:extLst>
                </a:gridCol>
                <a:gridCol w="1920240">
                  <a:extLst>
                    <a:ext uri="{9D8B030D-6E8A-4147-A177-3AD203B41FA5}">
                      <a16:colId xmlns:a16="http://schemas.microsoft.com/office/drawing/2014/main" val="1006128999"/>
                    </a:ext>
                  </a:extLst>
                </a:gridCol>
                <a:gridCol w="1097280">
                  <a:extLst>
                    <a:ext uri="{9D8B030D-6E8A-4147-A177-3AD203B41FA5}">
                      <a16:colId xmlns:a16="http://schemas.microsoft.com/office/drawing/2014/main" val="2567769002"/>
                    </a:ext>
                  </a:extLst>
                </a:gridCol>
              </a:tblGrid>
              <a:tr h="0">
                <a:tc>
                  <a:txBody>
                    <a:bodyPr/>
                    <a:lstStyle/>
                    <a:p>
                      <a:pPr marL="0" marR="0" algn="ctr">
                        <a:spcAft>
                          <a:spcPts val="600"/>
                        </a:spcAft>
                        <a:buNone/>
                      </a:pPr>
                      <a:r>
                        <a:rPr lang="en-US" sz="2400" dirty="0">
                          <a:effectLst/>
                          <a:latin typeface="Times New Roman" panose="02020603050405020304" pitchFamily="18" charset="0"/>
                          <a:cs typeface="Times New Roman" panose="02020603050405020304" pitchFamily="18" charset="0"/>
                        </a:rPr>
                        <a:t>CO</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8415" marR="18415" marT="0" marB="0" anchor="ctr"/>
                </a:tc>
                <a:tc>
                  <a:txBody>
                    <a:bodyPr/>
                    <a:lstStyle/>
                    <a:p>
                      <a:pPr marL="0" marR="0" algn="ctr">
                        <a:spcAft>
                          <a:spcPts val="600"/>
                        </a:spcAft>
                        <a:buNone/>
                      </a:pPr>
                      <a:r>
                        <a:rPr lang="en-US" sz="2400">
                          <a:effectLst/>
                          <a:latin typeface="Times New Roman" panose="02020603050405020304" pitchFamily="18" charset="0"/>
                          <a:cs typeface="Times New Roman" panose="02020603050405020304" pitchFamily="18" charset="0"/>
                        </a:rPr>
                        <a:t>Assessment Materials (Course Outcome Statement)</a:t>
                      </a:r>
                      <a:endParaRPr lang="en-US"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18415" marR="18415" marT="0" marB="0" anchor="ctr"/>
                </a:tc>
                <a:tc>
                  <a:txBody>
                    <a:bodyPr/>
                    <a:lstStyle/>
                    <a:p>
                      <a:pPr marL="0" marR="0" algn="ctr">
                        <a:spcAft>
                          <a:spcPts val="600"/>
                        </a:spcAft>
                        <a:buNone/>
                      </a:pPr>
                      <a:r>
                        <a:rPr lang="en-US" sz="2400" dirty="0">
                          <a:effectLst/>
                          <a:latin typeface="Times New Roman" panose="02020603050405020304" pitchFamily="18" charset="0"/>
                          <a:cs typeface="Times New Roman" panose="02020603050405020304" pitchFamily="18" charset="0"/>
                        </a:rPr>
                        <a:t>EA</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8415" marR="18415" marT="0" marB="0" anchor="ctr"/>
                </a:tc>
                <a:tc>
                  <a:txBody>
                    <a:bodyPr/>
                    <a:lstStyle/>
                    <a:p>
                      <a:pPr marL="0" marR="0" algn="ctr">
                        <a:spcAft>
                          <a:spcPts val="600"/>
                        </a:spcAft>
                        <a:buNone/>
                      </a:pPr>
                      <a:r>
                        <a:rPr lang="en-US" sz="2400" dirty="0">
                          <a:effectLst/>
                          <a:latin typeface="Times New Roman" panose="02020603050405020304" pitchFamily="18" charset="0"/>
                          <a:cs typeface="Times New Roman" panose="02020603050405020304" pitchFamily="18" charset="0"/>
                        </a:rPr>
                        <a:t>Assessed POI</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8415" marR="18415" marT="0" marB="0" anchor="ctr"/>
                </a:tc>
                <a:tc>
                  <a:txBody>
                    <a:bodyPr/>
                    <a:lstStyle/>
                    <a:p>
                      <a:pPr marL="0" marR="0" algn="ctr">
                        <a:spcAft>
                          <a:spcPts val="600"/>
                        </a:spcAft>
                        <a:buNone/>
                      </a:pPr>
                      <a:r>
                        <a:rPr lang="en-US" sz="2400" dirty="0">
                          <a:effectLst/>
                          <a:latin typeface="Times New Roman" panose="02020603050405020304" pitchFamily="18" charset="0"/>
                          <a:cs typeface="Times New Roman" panose="02020603050405020304" pitchFamily="18" charset="0"/>
                        </a:rPr>
                        <a:t>Marks</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8415" marR="18415" marT="0" marB="0" anchor="ctr"/>
                </a:tc>
                <a:extLst>
                  <a:ext uri="{0D108BD9-81ED-4DB2-BD59-A6C34878D82A}">
                    <a16:rowId xmlns:a16="http://schemas.microsoft.com/office/drawing/2014/main" val="3007316562"/>
                  </a:ext>
                </a:extLst>
              </a:tr>
              <a:tr h="0">
                <a:tc>
                  <a:txBody>
                    <a:bodyPr/>
                    <a:lstStyle/>
                    <a:p>
                      <a:pPr marL="0" marR="0" algn="ctr">
                        <a:spcAft>
                          <a:spcPts val="600"/>
                        </a:spcAft>
                        <a:buNone/>
                      </a:pPr>
                      <a:r>
                        <a:rPr lang="en-US" sz="2400" dirty="0">
                          <a:effectLst/>
                          <a:latin typeface="Times New Roman" panose="02020603050405020304" pitchFamily="18" charset="0"/>
                          <a:cs typeface="Times New Roman" panose="02020603050405020304" pitchFamily="18" charset="0"/>
                        </a:rPr>
                        <a:t>CO3</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8415" marR="18415" marT="0" marB="0" anchor="ctr"/>
                </a:tc>
                <a:tc>
                  <a:txBody>
                    <a:bodyPr/>
                    <a:lstStyle/>
                    <a:p>
                      <a:pPr marL="0" marR="0" algn="just">
                        <a:spcAft>
                          <a:spcPts val="600"/>
                        </a:spcAft>
                        <a:buNone/>
                      </a:pPr>
                      <a:r>
                        <a:rPr lang="en-US" sz="2400" dirty="0">
                          <a:effectLst/>
                          <a:latin typeface="Times New Roman" panose="02020603050405020304" pitchFamily="18" charset="0"/>
                          <a:cs typeface="Times New Roman" panose="02020603050405020304" pitchFamily="18" charset="0"/>
                        </a:rPr>
                        <a:t>Course Project Presentation (Explain the complex engineering activities of a course project solving a complex engineering problem of the electrical and electronic engineering discipline through an effective presentation.).</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8415" marR="18415" marT="0" marB="0"/>
                </a:tc>
                <a:tc>
                  <a:txBody>
                    <a:bodyPr/>
                    <a:lstStyle/>
                    <a:p>
                      <a:pPr marL="0" marR="0" algn="ctr">
                        <a:spcAft>
                          <a:spcPts val="600"/>
                        </a:spcAft>
                        <a:buNone/>
                      </a:pPr>
                      <a:r>
                        <a:rPr lang="en-GB" sz="2400" dirty="0">
                          <a:effectLst/>
                          <a:latin typeface="Times New Roman" panose="02020603050405020304" pitchFamily="18" charset="0"/>
                          <a:cs typeface="Times New Roman" panose="02020603050405020304" pitchFamily="18" charset="0"/>
                        </a:rPr>
                        <a:t>A1, A2</a:t>
                      </a:r>
                    </a:p>
                  </a:txBody>
                  <a:tcPr marL="18415" marR="18415" marT="0" marB="0" anchor="ctr"/>
                </a:tc>
                <a:tc>
                  <a:txBody>
                    <a:bodyPr/>
                    <a:lstStyle/>
                    <a:p>
                      <a:pPr marL="0" marR="0" algn="ctr">
                        <a:spcAft>
                          <a:spcPts val="600"/>
                        </a:spcAft>
                        <a:buNone/>
                      </a:pPr>
                      <a:r>
                        <a:rPr lang="en-GB" sz="2400" dirty="0">
                          <a:effectLst/>
                          <a:latin typeface="Times New Roman" panose="02020603050405020304" pitchFamily="18" charset="0"/>
                          <a:cs typeface="Times New Roman" panose="02020603050405020304" pitchFamily="18" charset="0"/>
                        </a:rPr>
                        <a:t>P.j.3.A4</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8415" marR="18415" marT="0" marB="0" anchor="ctr"/>
                </a:tc>
                <a:tc>
                  <a:txBody>
                    <a:bodyPr/>
                    <a:lstStyle/>
                    <a:p>
                      <a:pPr marL="0" marR="0" algn="ctr">
                        <a:spcAft>
                          <a:spcPts val="600"/>
                        </a:spcAft>
                        <a:buNone/>
                      </a:pPr>
                      <a:r>
                        <a:rPr lang="en-US" sz="2400" dirty="0">
                          <a:effectLst/>
                          <a:latin typeface="Times New Roman" panose="02020603050405020304" pitchFamily="18" charset="0"/>
                          <a:cs typeface="Times New Roman" panose="02020603050405020304" pitchFamily="18" charset="0"/>
                        </a:rPr>
                        <a:t>15</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8415" marR="18415" marT="0" marB="0" anchor="ctr"/>
                </a:tc>
                <a:extLst>
                  <a:ext uri="{0D108BD9-81ED-4DB2-BD59-A6C34878D82A}">
                    <a16:rowId xmlns:a16="http://schemas.microsoft.com/office/drawing/2014/main" val="1385878695"/>
                  </a:ext>
                </a:extLst>
              </a:tr>
            </a:tbl>
          </a:graphicData>
        </a:graphic>
      </p:graphicFrame>
    </p:spTree>
    <p:extLst>
      <p:ext uri="{BB962C8B-B14F-4D97-AF65-F5344CB8AC3E}">
        <p14:creationId xmlns:p14="http://schemas.microsoft.com/office/powerpoint/2010/main" val="1747738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6D653F17-9A89-45AC-AE70-3CB35AB34A7D}" type="datetime3">
              <a:rPr lang="en-US" smtClean="0"/>
              <a:t>24 August 2026</a:t>
            </a:fld>
            <a:endParaRPr lang="en-US"/>
          </a:p>
        </p:txBody>
      </p:sp>
      <p:sp>
        <p:nvSpPr>
          <p:cNvPr id="7" name="Slide Number Placeholder 6"/>
          <p:cNvSpPr>
            <a:spLocks noGrp="1"/>
          </p:cNvSpPr>
          <p:nvPr>
            <p:ph type="sldNum" sz="quarter" idx="12"/>
          </p:nvPr>
        </p:nvSpPr>
        <p:spPr/>
        <p:txBody>
          <a:bodyPr/>
          <a:lstStyle/>
          <a:p>
            <a:fld id="{48F63A3B-78C7-47BE-AE5E-E10140E04643}" type="slidenum">
              <a:rPr lang="en-US" smtClean="0"/>
              <a:pPr/>
              <a:t>5</a:t>
            </a:fld>
            <a:endParaRPr lang="en-US" dirty="0"/>
          </a:p>
        </p:txBody>
      </p:sp>
      <p:sp>
        <p:nvSpPr>
          <p:cNvPr id="8" name="Content Placeholder 7"/>
          <p:cNvSpPr>
            <a:spLocks noGrp="1"/>
          </p:cNvSpPr>
          <p:nvPr>
            <p:ph idx="1"/>
          </p:nvPr>
        </p:nvSpPr>
        <p:spPr>
          <a:xfrm>
            <a:off x="304800" y="1610434"/>
            <a:ext cx="15934267" cy="6154891"/>
          </a:xfrm>
        </p:spPr>
        <p:txBody>
          <a:bodyPr wrap="square">
            <a:noAutofit/>
          </a:bodyPr>
          <a:lstStyle/>
          <a:p>
            <a:pPr>
              <a:lnSpc>
                <a:spcPct val="120000"/>
              </a:lnSpc>
              <a:spcBef>
                <a:spcPts val="0"/>
              </a:spcBef>
              <a:buFontTx/>
              <a:buChar char="•"/>
            </a:pPr>
            <a:r>
              <a:rPr lang="en-US" altLang="en-US" sz="2200" b="1" dirty="0">
                <a:solidFill>
                  <a:srgbClr val="0000B0"/>
                </a:solidFill>
              </a:rPr>
              <a:t>1.  Aims and Objectives</a:t>
            </a:r>
            <a:endParaRPr lang="en-US" altLang="en-US" sz="2800" b="1" dirty="0">
              <a:solidFill>
                <a:srgbClr val="0000B0"/>
              </a:solidFill>
            </a:endParaRPr>
          </a:p>
          <a:p>
            <a:pPr>
              <a:lnSpc>
                <a:spcPct val="120000"/>
              </a:lnSpc>
              <a:spcBef>
                <a:spcPts val="0"/>
              </a:spcBef>
              <a:buFontTx/>
              <a:buChar char="•"/>
            </a:pPr>
            <a:r>
              <a:rPr lang="en-US" altLang="en-US" sz="2200" b="1" dirty="0">
                <a:solidFill>
                  <a:srgbClr val="0000B0"/>
                </a:solidFill>
              </a:rPr>
              <a:t>2.  Introduction</a:t>
            </a:r>
            <a:endParaRPr lang="en-US" altLang="en-US" sz="2800" b="1" dirty="0">
              <a:solidFill>
                <a:srgbClr val="0000B0"/>
              </a:solidFill>
            </a:endParaRPr>
          </a:p>
          <a:p>
            <a:pPr>
              <a:lnSpc>
                <a:spcPct val="120000"/>
              </a:lnSpc>
              <a:spcBef>
                <a:spcPts val="0"/>
              </a:spcBef>
              <a:buFontTx/>
              <a:buChar char="•"/>
            </a:pPr>
            <a:r>
              <a:rPr lang="en-US" altLang="en-US" sz="2200" b="1" dirty="0">
                <a:solidFill>
                  <a:srgbClr val="0000B0"/>
                </a:solidFill>
              </a:rPr>
              <a:t>3.  Literature Review</a:t>
            </a:r>
            <a:endParaRPr lang="en-US" altLang="en-US" sz="2800" b="1" dirty="0">
              <a:solidFill>
                <a:srgbClr val="0000B0"/>
              </a:solidFill>
            </a:endParaRPr>
          </a:p>
          <a:p>
            <a:pPr>
              <a:lnSpc>
                <a:spcPct val="120000"/>
              </a:lnSpc>
              <a:spcBef>
                <a:spcPts val="0"/>
              </a:spcBef>
              <a:buFontTx/>
              <a:buChar char="•"/>
            </a:pPr>
            <a:r>
              <a:rPr lang="en-US" altLang="en-US" sz="2200" b="1" dirty="0">
                <a:solidFill>
                  <a:srgbClr val="0000B0"/>
                </a:solidFill>
              </a:rPr>
              <a:t>4.  Working Method</a:t>
            </a:r>
            <a:endParaRPr lang="en-US" altLang="en-US" sz="2800" b="1" dirty="0">
              <a:solidFill>
                <a:srgbClr val="0000B0"/>
              </a:solidFill>
            </a:endParaRPr>
          </a:p>
          <a:p>
            <a:pPr>
              <a:lnSpc>
                <a:spcPct val="120000"/>
              </a:lnSpc>
              <a:spcBef>
                <a:spcPts val="0"/>
              </a:spcBef>
              <a:buFontTx/>
              <a:buChar char="•"/>
            </a:pPr>
            <a:r>
              <a:rPr lang="en-US" altLang="en-US" sz="2200" b="1" dirty="0">
                <a:solidFill>
                  <a:srgbClr val="0000B0"/>
                </a:solidFill>
              </a:rPr>
              <a:t>5.  Description / Methodology of the Work</a:t>
            </a:r>
            <a:endParaRPr lang="en-US" altLang="en-US" sz="2800" b="1" dirty="0">
              <a:solidFill>
                <a:srgbClr val="0000B0"/>
              </a:solidFill>
            </a:endParaRPr>
          </a:p>
          <a:p>
            <a:pPr>
              <a:lnSpc>
                <a:spcPct val="120000"/>
              </a:lnSpc>
              <a:spcBef>
                <a:spcPts val="0"/>
              </a:spcBef>
              <a:buFontTx/>
              <a:buChar char="•"/>
            </a:pPr>
            <a:r>
              <a:rPr lang="en-US" altLang="en-US" sz="2200" b="1" dirty="0">
                <a:solidFill>
                  <a:srgbClr val="0000B0"/>
                </a:solidFill>
              </a:rPr>
              <a:t>6.  Equations / Mathematical Model</a:t>
            </a:r>
            <a:endParaRPr lang="en-US" altLang="en-US" sz="2800" b="1" dirty="0">
              <a:solidFill>
                <a:srgbClr val="0000B0"/>
              </a:solidFill>
            </a:endParaRPr>
          </a:p>
          <a:p>
            <a:pPr>
              <a:lnSpc>
                <a:spcPct val="120000"/>
              </a:lnSpc>
              <a:spcBef>
                <a:spcPts val="0"/>
              </a:spcBef>
              <a:buFontTx/>
              <a:buChar char="•"/>
            </a:pPr>
            <a:r>
              <a:rPr lang="en-US" altLang="en-US" sz="2200" b="1" dirty="0">
                <a:solidFill>
                  <a:srgbClr val="0000B0"/>
                </a:solidFill>
              </a:rPr>
              <a:t>7.  Survey Report</a:t>
            </a:r>
            <a:endParaRPr lang="en-US" altLang="en-US" sz="2800" b="1" dirty="0">
              <a:solidFill>
                <a:srgbClr val="0000B0"/>
              </a:solidFill>
            </a:endParaRPr>
          </a:p>
          <a:p>
            <a:pPr>
              <a:lnSpc>
                <a:spcPct val="120000"/>
              </a:lnSpc>
              <a:spcBef>
                <a:spcPts val="0"/>
              </a:spcBef>
              <a:buFontTx/>
              <a:buChar char="•"/>
            </a:pPr>
            <a:r>
              <a:rPr lang="en-US" altLang="en-US" sz="2200" b="1" dirty="0">
                <a:solidFill>
                  <a:srgbClr val="0000B0"/>
                </a:solidFill>
              </a:rPr>
              <a:t>8.  Gantt Chart</a:t>
            </a:r>
            <a:endParaRPr lang="en-US" altLang="en-US" sz="2800" b="1" dirty="0">
              <a:solidFill>
                <a:srgbClr val="0000B0"/>
              </a:solidFill>
            </a:endParaRPr>
          </a:p>
          <a:p>
            <a:pPr>
              <a:lnSpc>
                <a:spcPct val="120000"/>
              </a:lnSpc>
              <a:spcBef>
                <a:spcPts val="0"/>
              </a:spcBef>
              <a:buFontTx/>
              <a:buChar char="•"/>
            </a:pPr>
            <a:r>
              <a:rPr lang="en-US" altLang="en-US" sz="2200" b="1" dirty="0">
                <a:solidFill>
                  <a:srgbClr val="0000B0"/>
                </a:solidFill>
              </a:rPr>
              <a:t>9.  Outcomes / Results and Discussions</a:t>
            </a:r>
            <a:endParaRPr lang="en-US" altLang="en-US" sz="2800" b="1" dirty="0">
              <a:solidFill>
                <a:srgbClr val="0000B0"/>
              </a:solidFill>
            </a:endParaRPr>
          </a:p>
          <a:p>
            <a:pPr>
              <a:lnSpc>
                <a:spcPct val="120000"/>
              </a:lnSpc>
              <a:spcBef>
                <a:spcPts val="0"/>
              </a:spcBef>
              <a:buFontTx/>
              <a:buChar char="•"/>
            </a:pPr>
            <a:r>
              <a:rPr lang="en-US" altLang="en-US" sz="2200" b="1" dirty="0">
                <a:solidFill>
                  <a:srgbClr val="0000B0"/>
                </a:solidFill>
              </a:rPr>
              <a:t>10.  Conclusions</a:t>
            </a:r>
            <a:endParaRPr lang="en-US" altLang="en-US" sz="2800" b="1" dirty="0">
              <a:solidFill>
                <a:srgbClr val="0000B0"/>
              </a:solidFill>
            </a:endParaRPr>
          </a:p>
          <a:p>
            <a:pPr>
              <a:lnSpc>
                <a:spcPct val="120000"/>
              </a:lnSpc>
              <a:spcBef>
                <a:spcPts val="0"/>
              </a:spcBef>
              <a:buFontTx/>
              <a:buChar char="•"/>
            </a:pPr>
            <a:r>
              <a:rPr lang="en-US" altLang="en-US" sz="2200" b="1" dirty="0">
                <a:solidFill>
                  <a:srgbClr val="0000B0"/>
                </a:solidFill>
              </a:rPr>
              <a:t>11.  Future Scopes</a:t>
            </a:r>
            <a:endParaRPr lang="en-US" altLang="en-US" sz="2800" b="1" dirty="0">
              <a:solidFill>
                <a:srgbClr val="0000B0"/>
              </a:solidFill>
            </a:endParaRPr>
          </a:p>
        </p:txBody>
      </p:sp>
      <p:sp>
        <p:nvSpPr>
          <p:cNvPr id="17" name="Oval 4" descr="Parchment"/>
          <p:cNvSpPr>
            <a:spLocks noChangeArrowheads="1"/>
          </p:cNvSpPr>
          <p:nvPr/>
        </p:nvSpPr>
        <p:spPr bwMode="auto">
          <a:xfrm>
            <a:off x="2344189" y="423330"/>
            <a:ext cx="11202477" cy="878513"/>
          </a:xfrm>
          <a:prstGeom prst="ellipse">
            <a:avLst/>
          </a:prstGeom>
          <a:blipFill dpi="0" rotWithShape="1">
            <a:blip r:embed="rId2"/>
            <a:srcRect/>
            <a:tile tx="0" ty="0" sx="100000" sy="100000" flip="none" algn="tl"/>
          </a:blip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sz="3200" b="1" dirty="0">
                <a:solidFill>
                  <a:srgbClr val="0070C0"/>
                </a:solidFill>
                <a:latin typeface="Comic Sans MS" panose="030F0702030302020204" pitchFamily="66" charset="0"/>
              </a:rPr>
              <a:t>Outline of the Presentation</a:t>
            </a:r>
          </a:p>
        </p:txBody>
      </p:sp>
    </p:spTree>
    <p:extLst>
      <p:ext uri="{BB962C8B-B14F-4D97-AF65-F5344CB8AC3E}">
        <p14:creationId xmlns:p14="http://schemas.microsoft.com/office/powerpoint/2010/main" val="4489164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Oval 4" descr="Parchment"/>
          <p:cNvSpPr>
            <a:spLocks noChangeArrowheads="1"/>
          </p:cNvSpPr>
          <p:nvPr/>
        </p:nvSpPr>
        <p:spPr bwMode="auto">
          <a:xfrm>
            <a:off x="1712422" y="529590"/>
            <a:ext cx="13136342" cy="1188720"/>
          </a:xfrm>
          <a:prstGeom prst="ellipse">
            <a:avLst/>
          </a:prstGeom>
          <a:blipFill dpi="0" rotWithShape="1">
            <a:blip r:embed="rId2"/>
            <a:srcRect/>
            <a:tile tx="0" ty="0" sx="100000" sy="100000" flip="none" algn="tl"/>
          </a:blip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sz="3840" b="1" dirty="0">
                <a:solidFill>
                  <a:srgbClr val="0070C0"/>
                </a:solidFill>
                <a:latin typeface="Comic Sans MS" panose="030F0702030302020204" pitchFamily="66" charset="0"/>
              </a:rPr>
              <a:t>Aims and Objectives of the Work</a:t>
            </a:r>
          </a:p>
        </p:txBody>
      </p:sp>
      <p:sp>
        <p:nvSpPr>
          <p:cNvPr id="16387" name="Rectangle 3"/>
          <p:cNvSpPr>
            <a:spLocks noChangeArrowheads="1"/>
          </p:cNvSpPr>
          <p:nvPr/>
        </p:nvSpPr>
        <p:spPr bwMode="auto">
          <a:xfrm>
            <a:off x="498764" y="2285999"/>
            <a:ext cx="15644552" cy="51477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Aft>
                <a:spcPts val="1200"/>
              </a:spcAft>
              <a:buFontTx/>
              <a:buChar char="•"/>
            </a:pPr>
            <a:r>
              <a:rPr lang="en-US" altLang="en-US" sz="2000" dirty="0">
                <a:solidFill>
                  <a:srgbClr val="0000D6"/>
                </a:solidFill>
                <a:latin typeface="Times New Roman" panose="02020603050405020304" pitchFamily="18" charset="0"/>
                <a:cs typeface="Times New Roman" panose="02020603050405020304" pitchFamily="18" charset="0"/>
              </a:rPr>
              <a:t>1.  To design a fully enclosed, sensor-driven micro-climate control system for a tropical terrarium.</a:t>
            </a:r>
          </a:p>
          <a:p>
            <a:pPr eaLnBrk="1" hangingPunct="1">
              <a:spcAft>
                <a:spcPts val="1200"/>
              </a:spcAft>
              <a:buFontTx/>
              <a:buChar char="•"/>
            </a:pPr>
            <a:r>
              <a:rPr lang="en-US" altLang="en-US" sz="2000" dirty="0">
                <a:solidFill>
                  <a:srgbClr val="0000D6"/>
                </a:solidFill>
                <a:latin typeface="Times New Roman" panose="02020603050405020304" pitchFamily="18" charset="0"/>
                <a:cs typeface="Times New Roman" panose="02020603050405020304" pitchFamily="18" charset="0"/>
              </a:rPr>
              <a:t>2.  To develop ESP32 firmware with a closed-loop rules engine (AUTO / MANUAL) for misting, airflow and lighting.</a:t>
            </a:r>
          </a:p>
          <a:p>
            <a:pPr eaLnBrk="1" hangingPunct="1">
              <a:spcAft>
                <a:spcPts val="1200"/>
              </a:spcAft>
              <a:buFontTx/>
              <a:buChar char="•"/>
            </a:pPr>
            <a:r>
              <a:rPr lang="en-US" altLang="en-US" sz="2000" dirty="0">
                <a:solidFill>
                  <a:srgbClr val="0000D6"/>
                </a:solidFill>
                <a:latin typeface="Times New Roman" panose="02020603050405020304" pitchFamily="18" charset="0"/>
                <a:cs typeface="Times New Roman" panose="02020603050405020304" pitchFamily="18" charset="0"/>
              </a:rPr>
              <a:t>3.  To implement five sensing channels: temperature / humidity / pressure, light, dual soil moisture, leak and water level.</a:t>
            </a:r>
          </a:p>
          <a:p>
            <a:pPr eaLnBrk="1" hangingPunct="1">
              <a:spcAft>
                <a:spcPts val="1200"/>
              </a:spcAft>
              <a:buFontTx/>
              <a:buChar char="•"/>
            </a:pPr>
            <a:r>
              <a:rPr lang="en-US" altLang="en-US" sz="2000" dirty="0">
                <a:solidFill>
                  <a:srgbClr val="0000D6"/>
                </a:solidFill>
                <a:latin typeface="Times New Roman" panose="02020603050405020304" pitchFamily="18" charset="0"/>
                <a:cs typeface="Times New Roman" panose="02020603050405020304" pitchFamily="18" charset="0"/>
              </a:rPr>
              <a:t>4.  To incorporate safety interlocks: reservoir float cut-off, leak alarm, daily watering cap and buzzer alerts.</a:t>
            </a:r>
          </a:p>
          <a:p>
            <a:pPr eaLnBrk="1" hangingPunct="1">
              <a:spcAft>
                <a:spcPts val="1200"/>
              </a:spcAft>
              <a:buFontTx/>
              <a:buChar char="•"/>
            </a:pPr>
            <a:r>
              <a:rPr lang="en-US" altLang="en-US" sz="2000" dirty="0">
                <a:solidFill>
                  <a:srgbClr val="0000D6"/>
                </a:solidFill>
                <a:latin typeface="Times New Roman" panose="02020603050405020304" pitchFamily="18" charset="0"/>
                <a:cs typeface="Times New Roman" panose="02020603050405020304" pitchFamily="18" charset="0"/>
              </a:rPr>
              <a:t>5.  To design dual-mode control: a phone dashboard over Wi-Fi / hotspot and a Windows console app over USB.</a:t>
            </a:r>
          </a:p>
          <a:p>
            <a:pPr eaLnBrk="1" hangingPunct="1">
              <a:spcAft>
                <a:spcPts val="1200"/>
              </a:spcAft>
              <a:buFontTx/>
              <a:buChar char="•"/>
            </a:pPr>
            <a:r>
              <a:rPr lang="en-US" altLang="en-US" sz="2000" dirty="0">
                <a:solidFill>
                  <a:srgbClr val="0000D6"/>
                </a:solidFill>
                <a:latin typeface="Times New Roman" panose="02020603050405020304" pitchFamily="18" charset="0"/>
                <a:cs typeface="Times New Roman" panose="02020603050405020304" pitchFamily="18" charset="0"/>
              </a:rPr>
              <a:t>6.  To calibrate the soil sensors and analyze system performance against measured data.</a:t>
            </a:r>
          </a:p>
        </p:txBody>
      </p:sp>
      <p:sp>
        <p:nvSpPr>
          <p:cNvPr id="3" name="Slide Number Placeholder 2"/>
          <p:cNvSpPr>
            <a:spLocks noGrp="1"/>
          </p:cNvSpPr>
          <p:nvPr>
            <p:ph type="sldNum" sz="quarter" idx="12"/>
          </p:nvPr>
        </p:nvSpPr>
        <p:spPr/>
        <p:txBody>
          <a:bodyPr/>
          <a:lstStyle/>
          <a:p>
            <a:fld id="{48F63A3B-78C7-47BE-AE5E-E10140E04643}" type="slidenum">
              <a:rPr lang="en-US" smtClean="0"/>
              <a:pPr/>
              <a:t>6</a:t>
            </a:fld>
            <a:endParaRPr lang="en-US" dirty="0"/>
          </a:p>
        </p:txBody>
      </p:sp>
    </p:spTree>
    <p:extLst>
      <p:ext uri="{BB962C8B-B14F-4D97-AF65-F5344CB8AC3E}">
        <p14:creationId xmlns:p14="http://schemas.microsoft.com/office/powerpoint/2010/main" val="12319218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Oval 3" descr="Parchment"/>
          <p:cNvSpPr>
            <a:spLocks noChangeArrowheads="1"/>
          </p:cNvSpPr>
          <p:nvPr/>
        </p:nvSpPr>
        <p:spPr bwMode="auto">
          <a:xfrm>
            <a:off x="1512916" y="529590"/>
            <a:ext cx="12818226" cy="1188720"/>
          </a:xfrm>
          <a:prstGeom prst="ellipse">
            <a:avLst/>
          </a:prstGeom>
          <a:blipFill dpi="0" rotWithShape="1">
            <a:blip r:embed="rId2"/>
            <a:srcRect/>
            <a:tile tx="0" ty="0" sx="100000" sy="100000" flip="none" algn="tl"/>
          </a:blip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sz="3840" b="1" dirty="0">
                <a:solidFill>
                  <a:srgbClr val="0070C0"/>
                </a:solidFill>
                <a:latin typeface="Comic Sans MS" panose="030F0702030302020204" pitchFamily="66" charset="0"/>
              </a:rPr>
              <a:t>Introduction …</a:t>
            </a:r>
          </a:p>
        </p:txBody>
      </p:sp>
      <p:sp>
        <p:nvSpPr>
          <p:cNvPr id="17411" name="Rectangle 2"/>
          <p:cNvSpPr>
            <a:spLocks noChangeArrowheads="1"/>
          </p:cNvSpPr>
          <p:nvPr/>
        </p:nvSpPr>
        <p:spPr bwMode="auto">
          <a:xfrm>
            <a:off x="432261" y="2286000"/>
            <a:ext cx="15677803" cy="5212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80000"/>
              </a:lnSpc>
              <a:spcBef>
                <a:spcPct val="20000"/>
              </a:spcBef>
              <a:buFontTx/>
              <a:buChar char="•"/>
            </a:pPr>
            <a:r>
              <a:rPr lang="en-US" altLang="en-US" sz="2000" b="1" dirty="0">
                <a:latin typeface="Times New Roman" panose="02020603050405020304" pitchFamily="18" charset="0"/>
                <a:cs typeface="Times New Roman" panose="02020603050405020304" pitchFamily="18" charset="0"/>
              </a:rPr>
              <a:t>Tropical plants (ferns, mosses, orchids) need 70-90% relative humidity, 22-28 °C and evenly moist soil. These conditions collapse quickly in air-conditioned rooms and in the dry season.</a:t>
            </a:r>
          </a:p>
          <a:p>
            <a:pPr eaLnBrk="1" hangingPunct="1">
              <a:lnSpc>
                <a:spcPct val="80000"/>
              </a:lnSpc>
              <a:spcBef>
                <a:spcPct val="20000"/>
              </a:spcBef>
              <a:buFontTx/>
              <a:buChar char="•"/>
            </a:pPr>
            <a:r>
              <a:rPr lang="en-US" altLang="en-US" sz="2000" b="1" dirty="0">
                <a:latin typeface="Times New Roman" panose="02020603050405020304" pitchFamily="18" charset="0"/>
                <a:cs typeface="Times New Roman" panose="02020603050405020304" pitchFamily="18" charset="0"/>
              </a:rPr>
              <a:t>Manual care fails silently: one missed misting crashes humidity within hours, while over-watering rots roots.</a:t>
            </a:r>
          </a:p>
          <a:p>
            <a:pPr eaLnBrk="1" hangingPunct="1">
              <a:lnSpc>
                <a:spcPct val="80000"/>
              </a:lnSpc>
              <a:spcBef>
                <a:spcPct val="20000"/>
              </a:spcBef>
              <a:buFontTx/>
              <a:buChar char="•"/>
            </a:pPr>
            <a:r>
              <a:rPr lang="en-US" altLang="en-US" sz="2000" b="1" dirty="0">
                <a:latin typeface="Times New Roman" panose="02020603050405020304" pitchFamily="18" charset="0"/>
                <a:cs typeface="Times New Roman" panose="02020603050405020304" pitchFamily="18" charset="0"/>
              </a:rPr>
              <a:t>Commercial plant controllers are either simple timers that act blindly (open loop), or cloud-locked products that stop working without internet.</a:t>
            </a:r>
          </a:p>
          <a:p>
            <a:pPr eaLnBrk="1" hangingPunct="1">
              <a:lnSpc>
                <a:spcPct val="80000"/>
              </a:lnSpc>
              <a:spcBef>
                <a:spcPct val="20000"/>
              </a:spcBef>
              <a:buFontTx/>
              <a:buChar char="•"/>
            </a:pPr>
            <a:r>
              <a:rPr lang="en-US" altLang="en-US" sz="2000" b="1" dirty="0">
                <a:latin typeface="Times New Roman" panose="02020603050405020304" pitchFamily="18" charset="0"/>
                <a:cs typeface="Times New Roman" panose="02020603050405020304" pitchFamily="18" charset="0"/>
              </a:rPr>
              <a:t>Motivation: a self-contained controller that senses, decides and acts locally, with no internet required, tunable by anyone.</a:t>
            </a:r>
          </a:p>
        </p:txBody>
      </p:sp>
      <p:sp>
        <p:nvSpPr>
          <p:cNvPr id="3" name="Slide Number Placeholder 2"/>
          <p:cNvSpPr>
            <a:spLocks noGrp="1"/>
          </p:cNvSpPr>
          <p:nvPr>
            <p:ph type="sldNum" sz="quarter" idx="12"/>
          </p:nvPr>
        </p:nvSpPr>
        <p:spPr/>
        <p:txBody>
          <a:bodyPr/>
          <a:lstStyle/>
          <a:p>
            <a:fld id="{48F63A3B-78C7-47BE-AE5E-E10140E04643}" type="slidenum">
              <a:rPr lang="en-US" smtClean="0"/>
              <a:pPr/>
              <a:t>7</a:t>
            </a:fld>
            <a:endParaRPr lang="en-US" dirty="0"/>
          </a:p>
        </p:txBody>
      </p:sp>
    </p:spTree>
    <p:extLst>
      <p:ext uri="{BB962C8B-B14F-4D97-AF65-F5344CB8AC3E}">
        <p14:creationId xmlns:p14="http://schemas.microsoft.com/office/powerpoint/2010/main" val="229727011"/>
      </p:ext>
    </p:extLst>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7410" name="Oval 3" descr="Parchment"/>
          <p:cNvSpPr>
            <a:spLocks noChangeArrowheads="1"/>
          </p:cNvSpPr>
          <p:nvPr/>
        </p:nvSpPr>
        <p:spPr bwMode="auto">
          <a:xfrm>
            <a:off x="1512916" y="529590"/>
            <a:ext cx="12818226" cy="1188720"/>
          </a:xfrm>
          <a:prstGeom prst="ellipse">
            <a:avLst/>
          </a:prstGeom>
          <a:blipFill dpi="0" rotWithShape="1">
            <a:blip r:embed="rId2"/>
            <a:srcRect/>
            <a:tile tx="0" ty="0" sx="100000" sy="100000" flip="none" algn="tl"/>
          </a:blip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sz="3840" b="1" dirty="0">
                <a:solidFill>
                  <a:srgbClr val="0070C0"/>
                </a:solidFill>
                <a:latin typeface="Comic Sans MS" panose="030F0702030302020204" pitchFamily="66" charset="0"/>
              </a:rPr>
              <a:t>Introduction</a:t>
            </a:r>
          </a:p>
        </p:txBody>
      </p:sp>
      <p:sp>
        <p:nvSpPr>
          <p:cNvPr id="17411" name="Rectangle 2"/>
          <p:cNvSpPr>
            <a:spLocks noChangeArrowheads="1"/>
          </p:cNvSpPr>
          <p:nvPr/>
        </p:nvSpPr>
        <p:spPr bwMode="auto">
          <a:xfrm>
            <a:off x="432261" y="2286000"/>
            <a:ext cx="15677803" cy="5212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80000"/>
              </a:lnSpc>
              <a:spcBef>
                <a:spcPct val="20000"/>
              </a:spcBef>
              <a:buFontTx/>
              <a:buChar char="•"/>
            </a:pPr>
            <a:r>
              <a:rPr lang="en-US" altLang="en-US" sz="2000" b="1" dirty="0">
                <a:latin typeface="Times New Roman" panose="02020603050405020304" pitchFamily="18" charset="0"/>
                <a:cs typeface="Times New Roman" panose="02020603050405020304" pitchFamily="18" charset="0"/>
              </a:rPr>
              <a:t>The developed system reads seven signals continuously: temperature, humidity, pressure, light level, two soil-moisture probes, tray leak and reservoir level.</a:t>
            </a:r>
          </a:p>
          <a:p>
            <a:pPr eaLnBrk="1" hangingPunct="1">
              <a:lnSpc>
                <a:spcPct val="80000"/>
              </a:lnSpc>
              <a:spcBef>
                <a:spcPct val="20000"/>
              </a:spcBef>
              <a:buFontTx/>
              <a:buChar char="•"/>
            </a:pPr>
            <a:r>
              <a:rPr lang="en-US" altLang="en-US" sz="2000" b="1" dirty="0">
                <a:latin typeface="Times New Roman" panose="02020603050405020304" pitchFamily="18" charset="0"/>
                <a:cs typeface="Times New Roman" panose="02020603050405020304" pitchFamily="18" charset="0"/>
              </a:rPr>
              <a:t>It drives ultrasonic mist makers, an exhaust fan and a grow light through a 4-channel opto-isolated MOSFET stage.</a:t>
            </a:r>
          </a:p>
          <a:p>
            <a:pPr eaLnBrk="1" hangingPunct="1">
              <a:lnSpc>
                <a:spcPct val="80000"/>
              </a:lnSpc>
              <a:spcBef>
                <a:spcPct val="20000"/>
              </a:spcBef>
              <a:buFontTx/>
              <a:buChar char="•"/>
            </a:pPr>
            <a:r>
              <a:rPr lang="en-US" altLang="en-US" sz="2000" b="1" dirty="0">
                <a:latin typeface="Times New Roman" panose="02020603050405020304" pitchFamily="18" charset="0"/>
                <a:cs typeface="Times New Roman" panose="02020603050405020304" pitchFamily="18" charset="0"/>
              </a:rPr>
              <a:t>Closed-loop rules with hysteresis hold humidity and soil moisture inside target bands; interlocks block unsafe actions.</a:t>
            </a:r>
          </a:p>
          <a:p>
            <a:pPr eaLnBrk="1" hangingPunct="1">
              <a:lnSpc>
                <a:spcPct val="80000"/>
              </a:lnSpc>
              <a:spcBef>
                <a:spcPct val="20000"/>
              </a:spcBef>
              <a:buFontTx/>
              <a:buChar char="•"/>
            </a:pPr>
            <a:r>
              <a:rPr lang="en-US" altLang="en-US" sz="2000" b="1" dirty="0">
                <a:latin typeface="Times New Roman" panose="02020603050405020304" pitchFamily="18" charset="0"/>
                <a:cs typeface="Times New Roman" panose="02020603050405020304" pitchFamily="18" charset="0"/>
              </a:rPr>
              <a:t>Control from any phone (over Wi-Fi or the board's own hotspot) or from a one-click Windows console app over USB.</a:t>
            </a:r>
          </a:p>
          <a:p>
            <a:pPr eaLnBrk="1" hangingPunct="1">
              <a:lnSpc>
                <a:spcPct val="80000"/>
              </a:lnSpc>
              <a:spcBef>
                <a:spcPct val="20000"/>
              </a:spcBef>
              <a:buFontTx/>
              <a:buChar char="•"/>
            </a:pPr>
            <a:r>
              <a:rPr lang="en-US" altLang="en-US" sz="2000" b="1" dirty="0">
                <a:latin typeface="Times New Roman" panose="02020603050405020304" pitchFamily="18" charset="0"/>
                <a:cs typeface="Times New Roman" panose="02020603050405020304" pitchFamily="18" charset="0"/>
              </a:rPr>
              <a:t>All 14 thresholds and timings are editable live from the UI and persist in flash, so nothing needs re-flashing to re-tune.</a:t>
            </a:r>
          </a:p>
        </p:txBody>
      </p:sp>
      <p:sp>
        <p:nvSpPr>
          <p:cNvPr id="3" name="Slide Number Placeholder 2"/>
          <p:cNvSpPr>
            <a:spLocks noGrp="1"/>
          </p:cNvSpPr>
          <p:nvPr>
            <p:ph type="sldNum" sz="quarter" idx="12"/>
          </p:nvPr>
        </p:nvSpPr>
        <p:spPr/>
        <p:txBody>
          <a:bodyPr/>
          <a:lstStyle/>
          <a:p>
            <a:fld id="{48F63A3B-78C7-47BE-AE5E-E10140E04643}" type="slidenum">
              <a:rPr lang="en-US" smtClean="0"/>
              <a:pPr/>
              <a:t>7</a:t>
            </a:fld>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Oval 3" descr="Parchment"/>
          <p:cNvSpPr>
            <a:spLocks noChangeArrowheads="1"/>
          </p:cNvSpPr>
          <p:nvPr/>
        </p:nvSpPr>
        <p:spPr bwMode="auto">
          <a:xfrm>
            <a:off x="1512916" y="529590"/>
            <a:ext cx="12818226" cy="1188720"/>
          </a:xfrm>
          <a:prstGeom prst="ellipse">
            <a:avLst/>
          </a:prstGeom>
          <a:blipFill dpi="0" rotWithShape="1">
            <a:blip r:embed="rId2"/>
            <a:srcRect/>
            <a:tile tx="0" ty="0" sx="100000" sy="100000" flip="none" algn="tl"/>
          </a:blip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sz="3840" b="1" dirty="0">
                <a:solidFill>
                  <a:srgbClr val="0070C0"/>
                </a:solidFill>
                <a:latin typeface="Comic Sans MS" panose="030F0702030302020204" pitchFamily="66" charset="0"/>
              </a:rPr>
              <a:t>Literature Review</a:t>
            </a:r>
          </a:p>
        </p:txBody>
      </p:sp>
      <p:sp>
        <p:nvSpPr>
          <p:cNvPr id="17411" name="Rectangle 2"/>
          <p:cNvSpPr>
            <a:spLocks noChangeArrowheads="1"/>
          </p:cNvSpPr>
          <p:nvPr/>
        </p:nvSpPr>
        <p:spPr bwMode="auto">
          <a:xfrm>
            <a:off x="432261" y="2133600"/>
            <a:ext cx="15677803" cy="57860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80000"/>
              </a:lnSpc>
              <a:spcBef>
                <a:spcPct val="20000"/>
              </a:spcBef>
              <a:buFontTx/>
              <a:buChar char="•"/>
            </a:pPr>
            <a:r>
              <a:rPr lang="en-US" altLang="en-US" sz="1900" b="1" dirty="0">
                <a:latin typeface="Times New Roman" panose="02020603050405020304" pitchFamily="18" charset="0"/>
                <a:cs typeface="Times New Roman" panose="02020603050405020304" pitchFamily="18" charset="0"/>
              </a:rPr>
              <a:t>Commercial misting systems (e.g., MistKing Starter) run on fixed timers: open loop, so they keep misting even when humidity is already high.</a:t>
            </a:r>
          </a:p>
          <a:p>
            <a:pPr eaLnBrk="1" hangingPunct="1">
              <a:lnSpc>
                <a:spcPct val="80000"/>
              </a:lnSpc>
              <a:spcBef>
                <a:spcPct val="20000"/>
              </a:spcBef>
              <a:buFontTx/>
              <a:buChar char="•"/>
            </a:pPr>
            <a:r>
              <a:rPr lang="en-US" altLang="en-US" sz="1900" b="1" dirty="0">
                <a:latin typeface="Times New Roman" panose="02020603050405020304" pitchFamily="18" charset="0"/>
                <a:cs typeface="Times New Roman" panose="02020603050405020304" pitchFamily="18" charset="0"/>
              </a:rPr>
              <a:t>Humidistat controllers (e.g., Inkbird IHC-200) close the loop on humidity only, with no awareness of soil, light, water level or leaks.</a:t>
            </a:r>
          </a:p>
          <a:p>
            <a:pPr eaLnBrk="1" hangingPunct="1">
              <a:lnSpc>
                <a:spcPct val="80000"/>
              </a:lnSpc>
              <a:spcBef>
                <a:spcPct val="20000"/>
              </a:spcBef>
              <a:buFontTx/>
              <a:buChar char="•"/>
            </a:pPr>
            <a:r>
              <a:rPr lang="en-US" altLang="en-US" sz="1900" b="1" dirty="0">
                <a:latin typeface="Times New Roman" panose="02020603050405020304" pitchFamily="18" charset="0"/>
                <a:cs typeface="Times New Roman" panose="02020603050405020304" pitchFamily="18" charset="0"/>
              </a:rPr>
              <a:t>Published Arduino / DHT11 greenhouse projects push readings to cloud dashboards (Blynk, ThingSpeak) but are monitoring-oriented, internet-dependent and use low-accuracy sensors (±5% RH).</a:t>
            </a:r>
          </a:p>
          <a:p>
            <a:pPr eaLnBrk="1" hangingPunct="1">
              <a:lnSpc>
                <a:spcPct val="80000"/>
              </a:lnSpc>
              <a:spcBef>
                <a:spcPct val="20000"/>
              </a:spcBef>
              <a:buFontTx/>
              <a:buChar char="•"/>
            </a:pPr>
            <a:r>
              <a:rPr lang="en-US" altLang="en-US" sz="1900" b="1" dirty="0">
                <a:latin typeface="Times New Roman" panose="02020603050405020304" pitchFamily="18" charset="0"/>
                <a:cs typeface="Times New Roman" panose="02020603050405020304" pitchFamily="18" charset="0"/>
              </a:rPr>
              <a:t>Gap addressed by this work: multi-variable closed-loop control, local-first operation with zero internet, hardware safety interlocks, and runtime configurability on low-cost hardware.</a:t>
            </a:r>
          </a:p>
          <a:p>
            <a:pPr eaLnBrk="1" hangingPunct="1">
              <a:lnSpc>
                <a:spcPct val="80000"/>
              </a:lnSpc>
              <a:spcBef>
                <a:spcPct val="20000"/>
              </a:spcBef>
              <a:buFontTx/>
              <a:buChar char="•"/>
            </a:pPr>
            <a:r>
              <a:rPr lang="en-US" altLang="en-US" sz="1900" b="1" dirty="0">
                <a:latin typeface="Times New Roman" panose="02020603050405020304" pitchFamily="18" charset="0"/>
                <a:cs typeface="Times New Roman" panose="02020603050405020304" pitchFamily="18" charset="0"/>
              </a:rPr>
              <a:t>[2-3 course-approved journal references to be added here]</a:t>
            </a:r>
          </a:p>
        </p:txBody>
      </p:sp>
      <p:sp>
        <p:nvSpPr>
          <p:cNvPr id="3" name="Slide Number Placeholder 2"/>
          <p:cNvSpPr>
            <a:spLocks noGrp="1"/>
          </p:cNvSpPr>
          <p:nvPr>
            <p:ph type="sldNum" sz="quarter" idx="12"/>
          </p:nvPr>
        </p:nvSpPr>
        <p:spPr/>
        <p:txBody>
          <a:bodyPr/>
          <a:lstStyle/>
          <a:p>
            <a:fld id="{48F63A3B-78C7-47BE-AE5E-E10140E04643}" type="slidenum">
              <a:rPr lang="en-US" smtClean="0"/>
              <a:pPr/>
              <a:t>8</a:t>
            </a:fld>
            <a:endParaRPr lang="en-US" dirty="0"/>
          </a:p>
        </p:txBody>
      </p:sp>
    </p:spTree>
    <p:extLst>
      <p:ext uri="{BB962C8B-B14F-4D97-AF65-F5344CB8AC3E}">
        <p14:creationId xmlns:p14="http://schemas.microsoft.com/office/powerpoint/2010/main" val="6007625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Oval 3" descr="Parchment"/>
          <p:cNvSpPr>
            <a:spLocks noChangeArrowheads="1"/>
          </p:cNvSpPr>
          <p:nvPr/>
        </p:nvSpPr>
        <p:spPr bwMode="auto">
          <a:xfrm>
            <a:off x="1762298" y="529590"/>
            <a:ext cx="11953702" cy="1188720"/>
          </a:xfrm>
          <a:prstGeom prst="ellipse">
            <a:avLst/>
          </a:prstGeom>
          <a:blipFill dpi="0" rotWithShape="1">
            <a:blip r:embed="rId2"/>
            <a:srcRect/>
            <a:tile tx="0" ty="0" sx="100000" sy="100000" flip="none" algn="tl"/>
          </a:blip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sz="4000" b="1" dirty="0">
                <a:solidFill>
                  <a:srgbClr val="0070C0"/>
                </a:solidFill>
                <a:latin typeface="Comic Sans MS" panose="030F0702030302020204" pitchFamily="66" charset="0"/>
              </a:rPr>
              <a:t>Research/Working Method</a:t>
            </a:r>
          </a:p>
        </p:txBody>
      </p:sp>
      <p:sp>
        <p:nvSpPr>
          <p:cNvPr id="18435" name="Rectangle 2"/>
          <p:cNvSpPr>
            <a:spLocks noChangeArrowheads="1"/>
          </p:cNvSpPr>
          <p:nvPr/>
        </p:nvSpPr>
        <p:spPr bwMode="auto">
          <a:xfrm>
            <a:off x="548640" y="2427316"/>
            <a:ext cx="15453359"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Font typeface="Wingdings" panose="05000000000000000000" pitchFamily="2" charset="2"/>
              <a:buChar char="§"/>
            </a:pPr>
            <a:r>
              <a:rPr lang="en-US" altLang="en-US" sz="1900" dirty="0">
                <a:solidFill>
                  <a:srgbClr val="0000FF"/>
                </a:solidFill>
                <a:latin typeface="Times New Roman" panose="02020603050405020304" pitchFamily="18" charset="0"/>
                <a:cs typeface="Times New Roman" panose="02020603050405020304" pitchFamily="18" charset="0"/>
              </a:rPr>
              <a:t>Sense &gt; decide &gt; act loop runs every 2 seconds on the ESP32.</a:t>
            </a:r>
          </a:p>
          <a:p>
            <a:pPr eaLnBrk="1" hangingPunct="1">
              <a:spcBef>
                <a:spcPct val="20000"/>
              </a:spcBef>
              <a:buFont typeface="Wingdings" panose="05000000000000000000" pitchFamily="2" charset="2"/>
              <a:buChar char="§"/>
            </a:pPr>
            <a:r>
              <a:rPr lang="en-US" altLang="en-US" sz="1900" dirty="0">
                <a:solidFill>
                  <a:srgbClr val="0000FF"/>
                </a:solidFill>
                <a:latin typeface="Times New Roman" panose="02020603050405020304" pitchFamily="18" charset="0"/>
                <a:cs typeface="Times New Roman" panose="02020603050405020304" pitchFamily="18" charset="0"/>
              </a:rPr>
              <a:t>AUTO mode: rules engine with hysteresis bands.  MANUAL mode: direct per-channel control from the UI.</a:t>
            </a:r>
          </a:p>
          <a:p>
            <a:pPr eaLnBrk="1" hangingPunct="1">
              <a:spcBef>
                <a:spcPct val="20000"/>
              </a:spcBef>
              <a:buFont typeface="Wingdings" panose="05000000000000000000" pitchFamily="2" charset="2"/>
              <a:buChar char="§"/>
            </a:pPr>
            <a:r>
              <a:rPr lang="en-US" altLang="en-US" sz="1900" dirty="0">
                <a:solidFill>
                  <a:srgbClr val="0000FF"/>
                </a:solidFill>
                <a:latin typeface="Times New Roman" panose="02020603050405020304" pitchFamily="18" charset="0"/>
                <a:cs typeface="Times New Roman" panose="02020603050405020304" pitchFamily="18" charset="0"/>
              </a:rPr>
              <a:t>All actuators are isolated from the logic side through opto-coupled MOSFET drivers (active-low).</a:t>
            </a:r>
          </a:p>
        </p:txBody>
      </p:sp>
      <p:sp>
        <p:nvSpPr>
          <p:cNvPr id="18436" name="Text Box 29"/>
          <p:cNvSpPr txBox="1">
            <a:spLocks noChangeArrowheads="1"/>
          </p:cNvSpPr>
          <p:nvPr/>
        </p:nvSpPr>
        <p:spPr bwMode="auto">
          <a:xfrm>
            <a:off x="5029200" y="7699248"/>
            <a:ext cx="64008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sz="1300" b="1" dirty="0" i="1">
                <a:solidFill>
                  <a:srgbClr val="FF1919"/>
                </a:solidFill>
                <a:latin typeface="Times New Roman" panose="02020603050405020304" pitchFamily="18" charset="0"/>
                <a:cs typeface="Times New Roman" panose="02020603050405020304" pitchFamily="18" charset="0"/>
              </a:rPr>
              <a:t>Fig. 1: Block diagram of the automated terrarium system</a:t>
            </a:r>
          </a:p>
        </p:txBody>
      </p:sp>
      <p:sp>
        <p:nvSpPr>
          <p:cNvPr id="3" name="Slide Number Placeholder 2"/>
          <p:cNvSpPr>
            <a:spLocks noGrp="1"/>
          </p:cNvSpPr>
          <p:nvPr>
            <p:ph type="sldNum" sz="quarter" idx="12"/>
          </p:nvPr>
        </p:nvSpPr>
        <p:spPr/>
        <p:txBody>
          <a:bodyPr/>
          <a:lstStyle/>
          <a:p>
            <a:fld id="{48F63A3B-78C7-47BE-AE5E-E10140E04643}" type="slidenum">
              <a:rPr lang="en-US" smtClean="0"/>
              <a:pPr/>
              <a:t>9</a:t>
            </a:fld>
            <a:endParaRPr lang="en-US" dirty="0"/>
          </a:p>
        </p:txBody>
      </p:sp>
      <p:pic>
        <p:nvPicPr>
          <p:cNvPr id="18437" name="Picture 18436" descr="block-diagram.png"/>
          <p:cNvPicPr>
            <a:picLocks noChangeAspect="1"/>
          </p:cNvPicPr>
          <p:nvPr/>
        </p:nvPicPr>
        <p:blipFill>
          <a:blip r:embed="rId4"/>
          <a:stretch>
            <a:fillRect/>
          </a:stretch>
        </p:blipFill>
        <p:spPr>
          <a:xfrm>
            <a:off x="4517353" y="3611880"/>
            <a:ext cx="7424494" cy="3977639"/>
          </a:xfrm>
          <a:prstGeom prst="rect">
            <a:avLst/>
          </a:prstGeom>
        </p:spPr>
      </p:pic>
    </p:spTree>
    <p:extLst>
      <p:ext uri="{BB962C8B-B14F-4D97-AF65-F5344CB8AC3E}">
        <p14:creationId xmlns:p14="http://schemas.microsoft.com/office/powerpoint/2010/main" val="1372500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ChangeArrowheads="1"/>
          </p:cNvSpPr>
          <p:nvPr/>
        </p:nvSpPr>
        <p:spPr bwMode="auto">
          <a:xfrm>
            <a:off x="332509" y="2004060"/>
            <a:ext cx="11521440" cy="5494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864" rIns="54864" wrap="square"/>
          <a:lstStyle>
            <a:lvl1pPr marL="182563" indent="-182563"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ts val="720"/>
              </a:spcBef>
              <a:buFontTx/>
              <a:buChar char="•"/>
            </a:pPr>
            <a:r>
              <a:rPr lang="en-US" altLang="en-US" sz="1800" dirty="0">
                <a:solidFill>
                  <a:srgbClr val="0000D6"/>
                </a:solidFill>
                <a:latin typeface="Times New Roman" panose="02020603050405020304" pitchFamily="18" charset="0"/>
                <a:cs typeface="Times New Roman" panose="02020603050405020304" pitchFamily="18" charset="0"/>
              </a:rPr>
              <a:t>ESP32 DevKit V1 (dual-core, Wi-Fi) is the controller; its CP2102 USB port doubles as the console link.</a:t>
            </a:r>
          </a:p>
          <a:p>
            <a:pPr eaLnBrk="1" hangingPunct="1">
              <a:spcBef>
                <a:spcPts val="720"/>
              </a:spcBef>
              <a:buFontTx/>
              <a:buChar char="•"/>
            </a:pPr>
            <a:r>
              <a:rPr lang="en-US" altLang="en-US" sz="1800" dirty="0">
                <a:solidFill>
                  <a:srgbClr val="0000D6"/>
                </a:solidFill>
                <a:latin typeface="Times New Roman" panose="02020603050405020304" pitchFamily="18" charset="0"/>
                <a:cs typeface="Times New Roman" panose="02020603050405020304" pitchFamily="18" charset="0"/>
              </a:rPr>
              <a:t>BME280 (temp / RH / pressure) and BH1750 (lux) share the I2C bus; capacitive soil probes and the leak sensor use 12-bit ADC pins.</a:t>
            </a:r>
          </a:p>
          <a:p>
            <a:pPr eaLnBrk="1" hangingPunct="1">
              <a:spcBef>
                <a:spcPts val="720"/>
              </a:spcBef>
              <a:buFontTx/>
              <a:buChar char="•"/>
            </a:pPr>
            <a:r>
              <a:rPr lang="en-US" altLang="en-US" sz="1800" dirty="0">
                <a:solidFill>
                  <a:srgbClr val="0000D6"/>
                </a:solidFill>
                <a:latin typeface="Times New Roman" panose="02020603050405020304" pitchFamily="18" charset="0"/>
                <a:cs typeface="Times New Roman" panose="02020603050405020304" pitchFamily="18" charset="0"/>
              </a:rPr>
              <a:t>A 4-channel opto-isolated MOSFET board switches the 5 V mist drivers; flyback diodes clamp fan back-EMF.</a:t>
            </a:r>
          </a:p>
          <a:p>
            <a:pPr eaLnBrk="1" hangingPunct="1">
              <a:spcBef>
                <a:spcPts val="720"/>
              </a:spcBef>
              <a:buFontTx/>
              <a:buChar char="•"/>
            </a:pPr>
            <a:r>
              <a:rPr lang="en-US" altLang="en-US" sz="1800" dirty="0">
                <a:solidFill>
                  <a:srgbClr val="0000D6"/>
                </a:solidFill>
                <a:latin typeface="Times New Roman" panose="02020603050405020304" pitchFamily="18" charset="0"/>
                <a:cs typeface="Times New Roman" panose="02020603050405020304" pitchFamily="18" charset="0"/>
              </a:rPr>
              <a:t>Power: 12 V adapter feeds a fused buck converter, giving a regulated 5 V rail for logic and mist; sensors run from 3.3 V only.</a:t>
            </a:r>
          </a:p>
          <a:p>
            <a:pPr eaLnBrk="1" hangingPunct="1">
              <a:spcBef>
                <a:spcPts val="720"/>
              </a:spcBef>
              <a:buFontTx/>
              <a:buChar char="•"/>
            </a:pPr>
            <a:r>
              <a:rPr lang="en-US" altLang="en-US" sz="1800" dirty="0">
                <a:solidFill>
                  <a:srgbClr val="0000D6"/>
                </a:solidFill>
                <a:latin typeface="Times New Roman" panose="02020603050405020304" pitchFamily="18" charset="0"/>
                <a:cs typeface="Times New Roman" panose="02020603050405020304" pitchFamily="18" charset="0"/>
              </a:rPr>
              <a:t>The complete system was assembled and verified on the bench before enclosure integration.</a:t>
            </a:r>
          </a:p>
        </p:txBody>
      </p:sp>
      <p:sp>
        <p:nvSpPr>
          <p:cNvPr id="19459" name="Oval 3" descr="Parchment"/>
          <p:cNvSpPr>
            <a:spLocks noChangeArrowheads="1"/>
          </p:cNvSpPr>
          <p:nvPr/>
        </p:nvSpPr>
        <p:spPr bwMode="auto">
          <a:xfrm>
            <a:off x="1130531" y="529590"/>
            <a:ext cx="14214764" cy="1188720"/>
          </a:xfrm>
          <a:prstGeom prst="ellipse">
            <a:avLst/>
          </a:prstGeom>
          <a:blipFill dpi="0" rotWithShape="1">
            <a:blip r:embed="rId2"/>
            <a:srcRect/>
            <a:tile tx="0" ty="0" sx="100000" sy="100000" flip="none" algn="tl"/>
          </a:blip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sz="4320" b="1" dirty="0">
                <a:solidFill>
                  <a:srgbClr val="0070C0"/>
                </a:solidFill>
                <a:latin typeface="Comic Sans MS" panose="030F0702030302020204" pitchFamily="66" charset="0"/>
              </a:rPr>
              <a:t>Description/Methodology of the Work …</a:t>
            </a:r>
          </a:p>
        </p:txBody>
      </p:sp>
      <p:sp>
        <p:nvSpPr>
          <p:cNvPr id="3" name="Slide Number Placeholder 2"/>
          <p:cNvSpPr>
            <a:spLocks noGrp="1"/>
          </p:cNvSpPr>
          <p:nvPr>
            <p:ph type="sldNum" sz="quarter" idx="12"/>
          </p:nvPr>
        </p:nvSpPr>
        <p:spPr/>
        <p:txBody>
          <a:bodyPr/>
          <a:lstStyle/>
          <a:p>
            <a:fld id="{48F63A3B-78C7-47BE-AE5E-E10140E04643}" type="slidenum">
              <a:rPr lang="en-US" smtClean="0"/>
              <a:pPr/>
              <a:t>10</a:t>
            </a:fld>
            <a:endParaRPr lang="en-US" dirty="0"/>
          </a:p>
        </p:txBody>
      </p:sp>
      <p:pic>
        <p:nvPicPr>
          <p:cNvPr id="19460" name="Picture 19459" descr="bench-photo.jpg"/>
          <p:cNvPicPr>
            <a:picLocks noChangeAspect="1"/>
          </p:cNvPicPr>
          <p:nvPr/>
        </p:nvPicPr>
        <p:blipFill>
          <a:blip r:embed="rId3"/>
          <a:stretch>
            <a:fillRect/>
          </a:stretch>
        </p:blipFill>
        <p:spPr>
          <a:xfrm>
            <a:off x="12024360" y="1920240"/>
            <a:ext cx="3840480" cy="5120640"/>
          </a:xfrm>
          <a:prstGeom prst="rect">
            <a:avLst/>
          </a:prstGeom>
        </p:spPr>
      </p:pic>
      <p:sp>
        <p:nvSpPr>
          <p:cNvPr id="19461" name="TextBox 19460"/>
          <p:cNvSpPr txBox="1"/>
          <p:nvPr/>
        </p:nvSpPr>
        <p:spPr>
          <a:xfrm>
            <a:off x="11795760" y="7178040"/>
            <a:ext cx="4297680" cy="365760"/>
          </a:xfrm>
          <a:prstGeom prst="rect">
            <a:avLst/>
          </a:prstGeom>
          <a:noFill/>
        </p:spPr>
        <p:txBody>
          <a:bodyPr wrap="none">
            <a:spAutoFit/>
          </a:bodyPr>
          <a:lstStyle/>
          <a:p>
            <a:pPr algn="ctr"/>
            <a:r>
              <a:rPr sz="1300" i="1">
                <a:solidFill>
                  <a:srgbClr val="444444"/>
                </a:solidFill>
              </a:rPr>
              <a:t>Fig. 2: Bench prototype under test (all channels live)</a:t>
            </a:r>
          </a:p>
        </p:txBody>
      </p:sp>
    </p:spTree>
    <p:extLst>
      <p:ext uri="{BB962C8B-B14F-4D97-AF65-F5344CB8AC3E}">
        <p14:creationId xmlns:p14="http://schemas.microsoft.com/office/powerpoint/2010/main" val="701313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ChangeArrowheads="1"/>
          </p:cNvSpPr>
          <p:nvPr/>
        </p:nvSpPr>
        <p:spPr bwMode="auto">
          <a:xfrm>
            <a:off x="315883" y="2004060"/>
            <a:ext cx="15877309" cy="567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864" rIns="54864" wrap="square"/>
          <a:lstStyle>
            <a:lvl1pPr marL="182563" indent="-182563"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ts val="720"/>
              </a:spcBef>
              <a:buFontTx/>
              <a:buChar char="•"/>
            </a:pPr>
            <a:r>
              <a:rPr lang="en-US" altLang="en-US" sz="1900" dirty="0">
                <a:solidFill>
                  <a:srgbClr val="0000D6"/>
                </a:solidFill>
                <a:latin typeface="Times New Roman" panose="02020603050405020304" pitchFamily="18" charset="0"/>
                <a:cs typeface="Times New Roman" panose="02020603050405020304" pitchFamily="18" charset="0"/>
              </a:rPr>
              <a:t>Humidity: mist turns ON below the low threshold and OFF above the high one; the hysteresis band prevents rapid on/off chatter.</a:t>
            </a:r>
          </a:p>
          <a:p>
            <a:pPr eaLnBrk="1" hangingPunct="1">
              <a:spcBef>
                <a:spcPts val="720"/>
              </a:spcBef>
              <a:buFontTx/>
              <a:buChar char="•"/>
            </a:pPr>
            <a:r>
              <a:rPr lang="en-US" altLang="en-US" sz="1900" dirty="0">
                <a:solidFill>
                  <a:srgbClr val="0000D6"/>
                </a:solidFill>
                <a:latin typeface="Times New Roman" panose="02020603050405020304" pitchFamily="18" charset="0"/>
                <a:cs typeface="Times New Roman" panose="02020603050405020304" pitchFamily="18" charset="0"/>
              </a:rPr>
              <a:t>Soil watering: short mist burst, then a soak wait, repeated until the target moisture, with a hard daily cap for safety.</a:t>
            </a:r>
          </a:p>
          <a:p>
            <a:pPr eaLnBrk="1" hangingPunct="1">
              <a:spcBef>
                <a:spcPts val="720"/>
              </a:spcBef>
              <a:buFontTx/>
              <a:buChar char="•"/>
            </a:pPr>
            <a:r>
              <a:rPr lang="en-US" altLang="en-US" sz="1900" dirty="0">
                <a:solidFill>
                  <a:srgbClr val="0000D6"/>
                </a:solidFill>
                <a:latin typeface="Times New Roman" panose="02020603050405020304" pitchFamily="18" charset="0"/>
                <a:cs typeface="Times New Roman" panose="02020603050405020304" pitchFamily="18" charset="0"/>
              </a:rPr>
              <a:t>Interlocks: the reservoir float stops all watering when empty; the leak probe raises the buzzer alarm.</a:t>
            </a:r>
          </a:p>
          <a:p>
            <a:pPr eaLnBrk="1" hangingPunct="1">
              <a:spcBef>
                <a:spcPts val="720"/>
              </a:spcBef>
              <a:buFontTx/>
              <a:buChar char="•"/>
            </a:pPr>
            <a:r>
              <a:rPr lang="en-US" altLang="en-US" sz="1900" dirty="0">
                <a:solidFill>
                  <a:srgbClr val="0000D6"/>
                </a:solidFill>
                <a:latin typeface="Times New Roman" panose="02020603050405020304" pitchFamily="18" charset="0"/>
                <a:cs typeface="Times New Roman" panose="02020603050405020304" pitchFamily="18" charset="0"/>
              </a:rPr>
              <a:t>Grow light follows a lux threshold and an on/off schedule; the exhaust fan dumps excess heat and humidity.</a:t>
            </a:r>
          </a:p>
        </p:txBody>
      </p:sp>
      <p:sp>
        <p:nvSpPr>
          <p:cNvPr id="20483" name="Oval 3" descr="Parchment"/>
          <p:cNvSpPr>
            <a:spLocks noChangeArrowheads="1"/>
          </p:cNvSpPr>
          <p:nvPr/>
        </p:nvSpPr>
        <p:spPr bwMode="auto">
          <a:xfrm>
            <a:off x="631767" y="529590"/>
            <a:ext cx="15561425" cy="1188720"/>
          </a:xfrm>
          <a:prstGeom prst="ellipse">
            <a:avLst/>
          </a:prstGeom>
          <a:blipFill dpi="0" rotWithShape="1">
            <a:blip r:embed="rId2"/>
            <a:srcRect/>
            <a:tile tx="0" ty="0" sx="100000" sy="100000" flip="none" algn="tl"/>
          </a:blip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sz="4800" b="1" dirty="0">
                <a:solidFill>
                  <a:srgbClr val="0070C0"/>
                </a:solidFill>
                <a:latin typeface="Comic Sans MS" panose="030F0702030302020204" pitchFamily="66" charset="0"/>
              </a:rPr>
              <a:t>Description/Methodology of the Work …</a:t>
            </a:r>
          </a:p>
        </p:txBody>
      </p:sp>
      <p:sp>
        <p:nvSpPr>
          <p:cNvPr id="3" name="Slide Number Placeholder 2"/>
          <p:cNvSpPr>
            <a:spLocks noGrp="1"/>
          </p:cNvSpPr>
          <p:nvPr>
            <p:ph type="sldNum" sz="quarter" idx="12"/>
          </p:nvPr>
        </p:nvSpPr>
        <p:spPr/>
        <p:txBody>
          <a:bodyPr/>
          <a:lstStyle/>
          <a:p>
            <a:fld id="{48F63A3B-78C7-47BE-AE5E-E10140E04643}" type="slidenum">
              <a:rPr lang="en-US" smtClean="0"/>
              <a:pPr/>
              <a:t>11</a:t>
            </a:fld>
            <a:endParaRPr lang="en-US" dirty="0"/>
          </a:p>
        </p:txBody>
      </p:sp>
      <p:pic>
        <p:nvPicPr>
          <p:cNvPr id="20484" name="Picture 20483" descr="hysteresis.png"/>
          <p:cNvPicPr>
            <a:picLocks noChangeAspect="1"/>
          </p:cNvPicPr>
          <p:nvPr/>
        </p:nvPicPr>
        <p:blipFill>
          <a:blip r:embed="rId3"/>
          <a:stretch>
            <a:fillRect/>
          </a:stretch>
        </p:blipFill>
        <p:spPr>
          <a:xfrm>
            <a:off x="4498004" y="4526280"/>
            <a:ext cx="7463191" cy="3200399"/>
          </a:xfrm>
          <a:prstGeom prst="rect">
            <a:avLst/>
          </a:prstGeom>
        </p:spPr>
      </p:pic>
      <p:sp>
        <p:nvSpPr>
          <p:cNvPr id="20485" name="TextBox 20484"/>
          <p:cNvSpPr txBox="1"/>
          <p:nvPr/>
        </p:nvSpPr>
        <p:spPr>
          <a:xfrm>
            <a:off x="5120640" y="7772400"/>
            <a:ext cx="6217920" cy="365760"/>
          </a:xfrm>
          <a:prstGeom prst="rect">
            <a:avLst/>
          </a:prstGeom>
          <a:noFill/>
        </p:spPr>
        <p:txBody>
          <a:bodyPr wrap="none">
            <a:spAutoFit/>
          </a:bodyPr>
          <a:lstStyle/>
          <a:p>
            <a:pPr algn="ctr"/>
            <a:r>
              <a:rPr sz="1300" i="1">
                <a:solidFill>
                  <a:srgbClr val="444444"/>
                </a:solidFill>
              </a:rPr>
              <a:t>Fig. 3: Humidity hysteresis control principle (simulated behaviour)</a:t>
            </a:r>
          </a:p>
        </p:txBody>
      </p:sp>
    </p:spTree>
    <p:extLst>
      <p:ext uri="{BB962C8B-B14F-4D97-AF65-F5344CB8AC3E}">
        <p14:creationId xmlns:p14="http://schemas.microsoft.com/office/powerpoint/2010/main" val="3978091014"/>
      </p:ext>
    </p:extLst>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7410" name="Oval 3" descr="Parchment"/>
          <p:cNvSpPr>
            <a:spLocks noChangeArrowheads="1"/>
          </p:cNvSpPr>
          <p:nvPr/>
        </p:nvSpPr>
        <p:spPr bwMode="auto">
          <a:xfrm>
            <a:off x="1512916" y="529590"/>
            <a:ext cx="12818226" cy="1188720"/>
          </a:xfrm>
          <a:prstGeom prst="ellipse">
            <a:avLst/>
          </a:prstGeom>
          <a:blipFill dpi="0" rotWithShape="1">
            <a:blip r:embed="rId2"/>
            <a:srcRect/>
            <a:tile tx="0" ty="0" sx="100000" sy="100000" flip="none" algn="tl"/>
          </a:blip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sz="3840" b="1" dirty="0">
                <a:solidFill>
                  <a:srgbClr val="0070C0"/>
                </a:solidFill>
                <a:latin typeface="Comic Sans MS" panose="030F0702030302020204" pitchFamily="66" charset="0"/>
              </a:rPr>
              <a:t>Description/Methodology of the Work</a:t>
            </a:r>
          </a:p>
        </p:txBody>
      </p:sp>
      <p:sp>
        <p:nvSpPr>
          <p:cNvPr id="17411" name="Rectangle 2"/>
          <p:cNvSpPr>
            <a:spLocks noChangeArrowheads="1"/>
          </p:cNvSpPr>
          <p:nvPr/>
        </p:nvSpPr>
        <p:spPr bwMode="auto">
          <a:xfrm>
            <a:off x="432261" y="2286000"/>
            <a:ext cx="15677803" cy="1920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80000"/>
              </a:lnSpc>
              <a:spcBef>
                <a:spcPct val="20000"/>
              </a:spcBef>
              <a:buFontTx/>
              <a:buChar char="•"/>
            </a:pPr>
            <a:r>
              <a:rPr lang="en-US" altLang="en-US" sz="1700" b="1" dirty="0">
                <a:latin typeface="Times New Roman" panose="02020603050405020304" pitchFamily="18" charset="0"/>
                <a:cs typeface="Times New Roman" panose="02020603050405020304" pitchFamily="18" charset="0"/>
              </a:rPr>
              <a:t>As-built wiring is documented one-to-one in a self-developed interactive diagram; 32 of 39 planned connections are live on the bench build.</a:t>
            </a:r>
          </a:p>
          <a:p>
            <a:pPr eaLnBrk="1" hangingPunct="1">
              <a:lnSpc>
                <a:spcPct val="80000"/>
              </a:lnSpc>
              <a:spcBef>
                <a:spcPct val="20000"/>
              </a:spcBef>
              <a:buFontTx/>
              <a:buChar char="•"/>
            </a:pPr>
            <a:r>
              <a:rPr lang="en-US" altLang="en-US" sz="1700" b="1" dirty="0">
                <a:latin typeface="Times New Roman" panose="02020603050405020304" pitchFamily="18" charset="0"/>
                <a:cs typeface="Times New Roman" panose="02020603050405020304" pitchFamily="18" charset="0"/>
              </a:rPr>
              <a:t>Firmware: Arduino C++ on the ESP32, with a web server, a serial command console and settings persisted in flash (NVS).</a:t>
            </a:r>
          </a:p>
          <a:p>
            <a:pPr eaLnBrk="1" hangingPunct="1">
              <a:lnSpc>
                <a:spcPct val="80000"/>
              </a:lnSpc>
              <a:spcBef>
                <a:spcPct val="20000"/>
              </a:spcBef>
              <a:buFontTx/>
              <a:buChar char="•"/>
            </a:pPr>
            <a:r>
              <a:rPr lang="en-US" altLang="en-US" sz="1700" b="1" dirty="0">
                <a:latin typeface="Times New Roman" panose="02020603050405020304" pitchFamily="18" charset="0"/>
                <a:cs typeface="Times New Roman" panose="02020603050405020304" pitchFamily="18" charset="0"/>
              </a:rPr>
              <a:t>Windows console app (single .exe): auto-detects the board, installs the driver and toolchain, flashes firmware and provisions Wi-Fi over USB.</a:t>
            </a:r>
          </a:p>
        </p:txBody>
      </p:sp>
      <p:sp>
        <p:nvSpPr>
          <p:cNvPr id="3" name="Slide Number Placeholder 2"/>
          <p:cNvSpPr>
            <a:spLocks noGrp="1"/>
          </p:cNvSpPr>
          <p:nvPr>
            <p:ph type="sldNum" sz="quarter" idx="12"/>
          </p:nvPr>
        </p:nvSpPr>
        <p:spPr/>
        <p:txBody>
          <a:bodyPr/>
          <a:lstStyle/>
          <a:p>
            <a:fld id="{48F63A3B-78C7-47BE-AE5E-E10140E04643}" type="slidenum">
              <a:rPr lang="en-US" smtClean="0"/>
              <a:pPr/>
              <a:t>7</a:t>
            </a:fld>
            <a:endParaRPr lang="en-US" dirty="0"/>
          </a:p>
        </p:txBody>
      </p:sp>
      <p:pic>
        <p:nvPicPr>
          <p:cNvPr id="17412" name="Picture 17411" descr="wiring-crop.png"/>
          <p:cNvPicPr>
            <a:picLocks noChangeAspect="1"/>
          </p:cNvPicPr>
          <p:nvPr/>
        </p:nvPicPr>
        <p:blipFill>
          <a:blip r:embed="rId3"/>
          <a:stretch>
            <a:fillRect/>
          </a:stretch>
        </p:blipFill>
        <p:spPr>
          <a:xfrm>
            <a:off x="5951000" y="3063240"/>
            <a:ext cx="4740080" cy="4709160"/>
          </a:xfrm>
          <a:prstGeom prst="rect">
            <a:avLst/>
          </a:prstGeom>
        </p:spPr>
      </p:pic>
      <p:sp>
        <p:nvSpPr>
          <p:cNvPr id="17413" name="TextBox 17412"/>
          <p:cNvSpPr txBox="1"/>
          <p:nvPr/>
        </p:nvSpPr>
        <p:spPr>
          <a:xfrm>
            <a:off x="5120640" y="7818120"/>
            <a:ext cx="6400800" cy="365760"/>
          </a:xfrm>
          <a:prstGeom prst="rect">
            <a:avLst/>
          </a:prstGeom>
          <a:noFill/>
        </p:spPr>
        <p:txBody>
          <a:bodyPr wrap="none">
            <a:spAutoFit/>
          </a:bodyPr>
          <a:lstStyle/>
          <a:p>
            <a:pPr algn="ctr"/>
            <a:r>
              <a:rPr sz="1300" i="1">
                <a:solidFill>
                  <a:srgbClr val="444444"/>
                </a:solidFill>
              </a:rPr>
              <a:t>Fig. 4: Interactive as-built wiring diagram (self-developed tool)</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Oval 3" descr="Parchment"/>
          <p:cNvSpPr>
            <a:spLocks noChangeArrowheads="1"/>
          </p:cNvSpPr>
          <p:nvPr/>
        </p:nvSpPr>
        <p:spPr bwMode="auto">
          <a:xfrm>
            <a:off x="1686616" y="614148"/>
            <a:ext cx="12943784" cy="1057093"/>
          </a:xfrm>
          <a:prstGeom prst="ellipse">
            <a:avLst/>
          </a:prstGeom>
          <a:blipFill dpi="0" rotWithShape="1">
            <a:blip r:embed="rId2"/>
            <a:srcRect/>
            <a:tile tx="0" ty="0" sx="100000" sy="100000" flip="none" algn="tl"/>
          </a:blip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sz="4320" b="1">
                <a:solidFill>
                  <a:srgbClr val="0070C0"/>
                </a:solidFill>
                <a:latin typeface="Comic Sans MS" panose="030F0702030302020204" pitchFamily="66" charset="0"/>
              </a:rPr>
              <a:t>Equations/Mathematical Model</a:t>
            </a:r>
          </a:p>
        </p:txBody>
      </p:sp>
      <p:sp>
        <p:nvSpPr>
          <p:cNvPr id="21511" name="Text Box 17"/>
          <p:cNvSpPr txBox="1">
            <a:spLocks noChangeArrowheads="1"/>
          </p:cNvSpPr>
          <p:nvPr/>
        </p:nvSpPr>
        <p:spPr bwMode="auto">
          <a:xfrm>
            <a:off x="2743200" y="6583680"/>
            <a:ext cx="10972800" cy="548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500" dirty="0">
                <a:solidFill>
                  <a:srgbClr val="1F497D"/>
                </a:solidFill>
                <a:latin typeface="Times New Roman" panose="02020603050405020304" pitchFamily="18" charset="0"/>
                <a:cs typeface="Times New Roman" panose="02020603050405020304" pitchFamily="18" charset="0"/>
              </a:rPr>
              <a:t>Two-point calibration mapping used in the firmware, worked with measured probe-1 values.</a:t>
            </a:r>
          </a:p>
        </p:txBody>
      </p:sp>
      <p:sp>
        <p:nvSpPr>
          <p:cNvPr id="4" name="Slide Number Placeholder 3"/>
          <p:cNvSpPr>
            <a:spLocks noGrp="1"/>
          </p:cNvSpPr>
          <p:nvPr>
            <p:ph type="sldNum" sz="quarter" idx="12"/>
          </p:nvPr>
        </p:nvSpPr>
        <p:spPr/>
        <p:txBody>
          <a:bodyPr/>
          <a:lstStyle/>
          <a:p>
            <a:fld id="{48F63A3B-78C7-47BE-AE5E-E10140E04643}" type="slidenum">
              <a:rPr lang="en-US" smtClean="0"/>
              <a:pPr/>
              <a:t>12</a:t>
            </a:fld>
            <a:endParaRPr lang="en-US" dirty="0"/>
          </a:p>
        </p:txBody>
      </p:sp>
      <p:pic>
        <p:nvPicPr>
          <p:cNvPr id="21512" name="Picture 21511" descr="equation.png"/>
          <p:cNvPicPr>
            <a:picLocks noChangeAspect="1"/>
          </p:cNvPicPr>
          <p:nvPr/>
        </p:nvPicPr>
        <p:blipFill>
          <a:blip r:embed="rId4"/>
          <a:stretch>
            <a:fillRect/>
          </a:stretch>
        </p:blipFill>
        <p:spPr>
          <a:xfrm>
            <a:off x="3657600" y="2238254"/>
            <a:ext cx="9144000" cy="3753092"/>
          </a:xfrm>
          <a:prstGeom prst="rect">
            <a:avLst/>
          </a:prstGeom>
        </p:spPr>
      </p:pic>
    </p:spTree>
    <p:extLst>
      <p:ext uri="{BB962C8B-B14F-4D97-AF65-F5344CB8AC3E}">
        <p14:creationId xmlns:p14="http://schemas.microsoft.com/office/powerpoint/2010/main" val="19085057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Oval 3" descr="Parchment"/>
          <p:cNvSpPr>
            <a:spLocks noChangeArrowheads="1"/>
          </p:cNvSpPr>
          <p:nvPr/>
        </p:nvSpPr>
        <p:spPr bwMode="auto">
          <a:xfrm>
            <a:off x="1686616" y="614148"/>
            <a:ext cx="12943784" cy="1057093"/>
          </a:xfrm>
          <a:prstGeom prst="ellipse">
            <a:avLst/>
          </a:prstGeom>
          <a:blipFill dpi="0" rotWithShape="1">
            <a:blip r:embed="rId2"/>
            <a:srcRect/>
            <a:tile tx="0" ty="0" sx="100000" sy="100000" flip="none" algn="tl"/>
          </a:blip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sz="4320" b="1" dirty="0">
                <a:solidFill>
                  <a:srgbClr val="0070C0"/>
                </a:solidFill>
                <a:latin typeface="Comic Sans MS" panose="030F0702030302020204" pitchFamily="66" charset="0"/>
              </a:rPr>
              <a:t>Survey Report</a:t>
            </a:r>
          </a:p>
        </p:txBody>
      </p:sp>
      <p:sp>
        <p:nvSpPr>
          <p:cNvPr id="21507" name="Rectangle 16"/>
          <p:cNvSpPr>
            <a:spLocks noChangeArrowheads="1"/>
          </p:cNvSpPr>
          <p:nvPr/>
        </p:nvSpPr>
        <p:spPr bwMode="auto">
          <a:xfrm>
            <a:off x="2743201" y="-212366"/>
            <a:ext cx="184731"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2160"/>
          </a:p>
        </p:txBody>
      </p:sp>
      <p:sp>
        <p:nvSpPr>
          <p:cNvPr id="21508" name="Rectangle 26"/>
          <p:cNvSpPr>
            <a:spLocks noChangeArrowheads="1"/>
          </p:cNvSpPr>
          <p:nvPr/>
        </p:nvSpPr>
        <p:spPr bwMode="auto">
          <a:xfrm>
            <a:off x="2743201" y="-212366"/>
            <a:ext cx="184731"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2160"/>
          </a:p>
        </p:txBody>
      </p:sp>
      <p:sp>
        <p:nvSpPr>
          <p:cNvPr id="21509" name="Rectangle 28"/>
          <p:cNvSpPr>
            <a:spLocks noChangeArrowheads="1"/>
          </p:cNvSpPr>
          <p:nvPr/>
        </p:nvSpPr>
        <p:spPr bwMode="auto">
          <a:xfrm>
            <a:off x="2743201" y="-212366"/>
            <a:ext cx="184731"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2160"/>
          </a:p>
        </p:txBody>
      </p:sp>
      <p:sp>
        <p:nvSpPr>
          <p:cNvPr id="21510" name="Rectangle 37"/>
          <p:cNvSpPr>
            <a:spLocks noChangeArrowheads="1"/>
          </p:cNvSpPr>
          <p:nvPr/>
        </p:nvSpPr>
        <p:spPr bwMode="auto">
          <a:xfrm>
            <a:off x="2743201" y="61954"/>
            <a:ext cx="184731"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2160"/>
          </a:p>
        </p:txBody>
      </p:sp>
      <p:sp>
        <p:nvSpPr>
          <p:cNvPr id="21511" name="Text Box 17"/>
          <p:cNvSpPr txBox="1">
            <a:spLocks noChangeArrowheads="1"/>
          </p:cNvSpPr>
          <p:nvPr/>
        </p:nvSpPr>
        <p:spPr bwMode="auto">
          <a:xfrm>
            <a:off x="232756" y="1759060"/>
            <a:ext cx="15860683"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dirty="0">
                <a:solidFill>
                  <a:srgbClr val="1F497D"/>
                </a:solidFill>
                <a:latin typeface="Times New Roman" panose="02020603050405020304" pitchFamily="18" charset="0"/>
                <a:cs typeface="Times New Roman" panose="02020603050405020304" pitchFamily="18" charset="0"/>
              </a:rPr>
              <a:t>Survey plan (Google Forms, target N ≥ 30 respondents):</a:t>
            </a:r>
          </a:p>
          <a:p>
            <a:pPr eaLnBrk="1" hangingPunct="1">
              <a:spcBef>
                <a:spcPct val="50000"/>
              </a:spcBef>
            </a:pPr>
            <a:r>
              <a:rPr lang="en-US" altLang="en-US" sz="1800" dirty="0">
                <a:solidFill>
                  <a:srgbClr val="1F497D"/>
                </a:solidFill>
                <a:latin typeface="Times New Roman" panose="02020603050405020304" pitchFamily="18" charset="0"/>
                <a:cs typeface="Times New Roman" panose="02020603050405020304" pitchFamily="18" charset="0"/>
              </a:rPr>
              <a:t>1.  Do you keep indoor plants at home?</a:t>
            </a:r>
          </a:p>
          <a:p>
            <a:pPr eaLnBrk="1" hangingPunct="1">
              <a:spcBef>
                <a:spcPct val="50000"/>
              </a:spcBef>
            </a:pPr>
            <a:r>
              <a:rPr lang="en-US" altLang="en-US" sz="1800" dirty="0">
                <a:solidFill>
                  <a:srgbClr val="1F497D"/>
                </a:solidFill>
                <a:latin typeface="Times New Roman" panose="02020603050405020304" pitchFamily="18" charset="0"/>
                <a:cs typeface="Times New Roman" panose="02020603050405020304" pitchFamily="18" charset="0"/>
              </a:rPr>
              <a:t>2.  Have you lost a plant to missed watering or humidity swings?</a:t>
            </a:r>
          </a:p>
          <a:p>
            <a:pPr eaLnBrk="1" hangingPunct="1">
              <a:spcBef>
                <a:spcPct val="50000"/>
              </a:spcBef>
            </a:pPr>
            <a:r>
              <a:rPr lang="en-US" altLang="en-US" sz="1800" dirty="0">
                <a:solidFill>
                  <a:srgbClr val="1F497D"/>
                </a:solidFill>
                <a:latin typeface="Times New Roman" panose="02020603050405020304" pitchFamily="18" charset="0"/>
                <a:cs typeface="Times New Roman" panose="02020603050405020304" pitchFamily="18" charset="0"/>
              </a:rPr>
              <a:t>3.  Would you trust an automated system to water your plants?</a:t>
            </a:r>
          </a:p>
          <a:p>
            <a:pPr eaLnBrk="1" hangingPunct="1">
              <a:spcBef>
                <a:spcPct val="50000"/>
              </a:spcBef>
            </a:pPr>
            <a:r>
              <a:rPr lang="en-US" altLang="en-US" sz="1800" dirty="0">
                <a:solidFill>
                  <a:srgbClr val="1F497D"/>
                </a:solidFill>
                <a:latin typeface="Times New Roman" panose="02020603050405020304" pitchFamily="18" charset="0"/>
                <a:cs typeface="Times New Roman" panose="02020603050405020304" pitchFamily="18" charset="0"/>
              </a:rPr>
              <a:t>4.  Which feature matters most: auto misting, grow light, alerts, or remote monitoring?</a:t>
            </a:r>
          </a:p>
          <a:p>
            <a:pPr eaLnBrk="1" hangingPunct="1">
              <a:spcBef>
                <a:spcPct val="50000"/>
              </a:spcBef>
            </a:pPr>
            <a:r>
              <a:rPr lang="en-US" altLang="en-US" sz="1800" dirty="0">
                <a:solidFill>
                  <a:srgbClr val="1F497D"/>
                </a:solidFill>
                <a:latin typeface="Times New Roman" panose="02020603050405020304" pitchFamily="18" charset="0"/>
                <a:cs typeface="Times New Roman" panose="02020603050405020304" pitchFamily="18" charset="0"/>
              </a:rPr>
              <a:t>5.  How much would you pay for a local, internet-free plant-automation kit?</a:t>
            </a:r>
          </a:p>
          <a:p>
            <a:pPr eaLnBrk="1" hangingPunct="1">
              <a:spcBef>
                <a:spcPct val="50000"/>
              </a:spcBef>
            </a:pPr>
            <a:r>
              <a:rPr lang="en-US" altLang="en-US" sz="1800" dirty="0">
                <a:solidFill>
                  <a:srgbClr val="1F497D"/>
                </a:solidFill>
                <a:latin typeface="Times New Roman" panose="02020603050405020304" pitchFamily="18" charset="0"/>
                <a:cs typeface="Times New Roman" panose="02020603050405020304" pitchFamily="18" charset="0"/>
              </a:rPr>
              <a:t>6.  Is operation without internet / cloud important to you?</a:t>
            </a:r>
          </a:p>
        </p:txBody>
      </p:sp>
      <p:sp>
        <p:nvSpPr>
          <p:cNvPr id="21514" name="Rectangle 12"/>
          <p:cNvSpPr>
            <a:spLocks noChangeArrowheads="1"/>
          </p:cNvSpPr>
          <p:nvPr/>
        </p:nvSpPr>
        <p:spPr bwMode="auto">
          <a:xfrm>
            <a:off x="2743201" y="61954"/>
            <a:ext cx="184731"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2160"/>
          </a:p>
        </p:txBody>
      </p:sp>
      <p:sp>
        <p:nvSpPr>
          <p:cNvPr id="4" name="Slide Number Placeholder 3"/>
          <p:cNvSpPr>
            <a:spLocks noGrp="1"/>
          </p:cNvSpPr>
          <p:nvPr>
            <p:ph type="sldNum" sz="quarter" idx="12"/>
          </p:nvPr>
        </p:nvSpPr>
        <p:spPr/>
        <p:txBody>
          <a:bodyPr/>
          <a:lstStyle/>
          <a:p>
            <a:fld id="{48F63A3B-78C7-47BE-AE5E-E10140E04643}" type="slidenum">
              <a:rPr lang="en-US" smtClean="0"/>
              <a:pPr/>
              <a:t>13</a:t>
            </a:fld>
            <a:endParaRPr lang="en-US" dirty="0"/>
          </a:p>
        </p:txBody>
      </p:sp>
      <p:sp>
        <p:nvSpPr>
          <p:cNvPr id="6" name="TextBox 5">
            <a:extLst>
              <a:ext uri="{FF2B5EF4-FFF2-40B4-BE49-F238E27FC236}">
                <a16:creationId xmlns:a16="http://schemas.microsoft.com/office/drawing/2014/main" id="{714A041A-5CD6-FFB4-B961-B984F715393F}"/>
              </a:ext>
            </a:extLst>
          </p:cNvPr>
          <p:cNvSpPr txBox="1"/>
          <p:nvPr/>
        </p:nvSpPr>
        <p:spPr>
          <a:xfrm>
            <a:off x="955558" y="7478403"/>
            <a:ext cx="14128013" cy="523220"/>
          </a:xfrm>
          <a:prstGeom prst="rect">
            <a:avLst/>
          </a:prstGeom>
          <a:noFill/>
        </p:spPr>
        <p:txBody>
          <a:bodyPr wrap="square" rtlCol="0">
            <a:spAutoFit/>
          </a:bodyPr>
          <a:lstStyle/>
          <a:p>
            <a:pPr algn="ctr"/>
            <a:r>
              <a:rPr lang="en-US" sz="1300" b="1" dirty="0" i="1">
                <a:solidFill>
                  <a:srgbClr val="FF0000"/>
                </a:solidFill>
                <a:latin typeface="Times New Roman" panose="02020603050405020304" pitchFamily="18" charset="0"/>
                <a:cs typeface="Times New Roman" panose="02020603050405020304" pitchFamily="18" charset="0"/>
              </a:rPr>
              <a:t>Fig. 5: Survey response summary (to be inserted)</a:t>
            </a:r>
          </a:p>
        </p:txBody>
      </p:sp>
      <p:sp>
        <p:nvSpPr>
          <p:cNvPr id="21515" name="TextBox 21514"/>
          <p:cNvSpPr txBox="1"/>
          <p:nvPr/>
        </p:nvSpPr>
        <p:spPr>
          <a:xfrm>
            <a:off x="4315685" y="5135996"/>
            <a:ext cx="7922119" cy="731520"/>
          </a:xfrm>
          <a:prstGeom prst="rect">
            <a:avLst/>
          </a:prstGeom>
          <a:noFill/>
        </p:spPr>
        <p:txBody>
          <a:bodyPr wrap="none">
            <a:spAutoFit/>
          </a:bodyPr>
          <a:lstStyle/>
          <a:p>
            <a:pPr algn="ctr"/>
            <a:r>
              <a:rPr sz="1600" i="1">
                <a:solidFill>
                  <a:srgbClr val="888888"/>
                </a:solidFill>
              </a:rPr>
              <a:t>[ Response pie / bar charts inserted here once collection closes ]</a:t>
            </a:r>
          </a:p>
        </p:txBody>
      </p:sp>
    </p:spTree>
    <p:extLst>
      <p:ext uri="{BB962C8B-B14F-4D97-AF65-F5344CB8AC3E}">
        <p14:creationId xmlns:p14="http://schemas.microsoft.com/office/powerpoint/2010/main" val="18829591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Oval 3" descr="Parchment"/>
          <p:cNvSpPr>
            <a:spLocks noChangeArrowheads="1"/>
          </p:cNvSpPr>
          <p:nvPr/>
        </p:nvSpPr>
        <p:spPr bwMode="auto">
          <a:xfrm>
            <a:off x="1686616" y="545908"/>
            <a:ext cx="12943784" cy="1057093"/>
          </a:xfrm>
          <a:prstGeom prst="ellipse">
            <a:avLst/>
          </a:prstGeom>
          <a:blipFill dpi="0" rotWithShape="1">
            <a:blip r:embed="rId2"/>
            <a:srcRect/>
            <a:tile tx="0" ty="0" sx="100000" sy="100000" flip="none" algn="tl"/>
          </a:blip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sz="4320" b="1" dirty="0">
                <a:solidFill>
                  <a:srgbClr val="0070C0"/>
                </a:solidFill>
                <a:latin typeface="Comic Sans MS" panose="030F0702030302020204" pitchFamily="66" charset="0"/>
              </a:rPr>
              <a:t>Gantt Chart</a:t>
            </a:r>
          </a:p>
        </p:txBody>
      </p:sp>
      <p:sp>
        <p:nvSpPr>
          <p:cNvPr id="21507" name="Rectangle 16"/>
          <p:cNvSpPr>
            <a:spLocks noChangeArrowheads="1"/>
          </p:cNvSpPr>
          <p:nvPr/>
        </p:nvSpPr>
        <p:spPr bwMode="auto">
          <a:xfrm>
            <a:off x="2743201" y="-212366"/>
            <a:ext cx="184731"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2160"/>
          </a:p>
        </p:txBody>
      </p:sp>
      <p:sp>
        <p:nvSpPr>
          <p:cNvPr id="21508" name="Rectangle 26"/>
          <p:cNvSpPr>
            <a:spLocks noChangeArrowheads="1"/>
          </p:cNvSpPr>
          <p:nvPr/>
        </p:nvSpPr>
        <p:spPr bwMode="auto">
          <a:xfrm>
            <a:off x="2743201" y="-212366"/>
            <a:ext cx="184731"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2160"/>
          </a:p>
        </p:txBody>
      </p:sp>
      <p:sp>
        <p:nvSpPr>
          <p:cNvPr id="21509" name="Rectangle 28"/>
          <p:cNvSpPr>
            <a:spLocks noChangeArrowheads="1"/>
          </p:cNvSpPr>
          <p:nvPr/>
        </p:nvSpPr>
        <p:spPr bwMode="auto">
          <a:xfrm>
            <a:off x="2743201" y="-212366"/>
            <a:ext cx="184731"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2160"/>
          </a:p>
        </p:txBody>
      </p:sp>
      <p:sp>
        <p:nvSpPr>
          <p:cNvPr id="21510" name="Rectangle 37"/>
          <p:cNvSpPr>
            <a:spLocks noChangeArrowheads="1"/>
          </p:cNvSpPr>
          <p:nvPr/>
        </p:nvSpPr>
        <p:spPr bwMode="auto">
          <a:xfrm>
            <a:off x="2743201" y="61954"/>
            <a:ext cx="184731"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2160"/>
          </a:p>
        </p:txBody>
      </p:sp>
      <p:sp>
        <p:nvSpPr>
          <p:cNvPr id="21511" name="Text Box 17"/>
          <p:cNvSpPr txBox="1">
            <a:spLocks noChangeArrowheads="1"/>
          </p:cNvSpPr>
          <p:nvPr/>
        </p:nvSpPr>
        <p:spPr bwMode="auto">
          <a:xfrm>
            <a:off x="10126639" y="1770783"/>
            <a:ext cx="5966800"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500" dirty="0">
                <a:solidFill>
                  <a:srgbClr val="1F497D"/>
                </a:solidFill>
                <a:latin typeface="Times New Roman" panose="02020603050405020304" pitchFamily="18" charset="0"/>
                <a:cs typeface="Times New Roman" panose="02020603050405020304" pitchFamily="18" charset="0"/>
              </a:rPr>
              <a:t>Work started 11 Aug 2026. The bench system was completed in the first three weeks; enclosure, integration and the 48-hour soak test are scheduled before the final defence.</a:t>
            </a:r>
          </a:p>
        </p:txBody>
      </p:sp>
      <p:sp>
        <p:nvSpPr>
          <p:cNvPr id="21514" name="Rectangle 12"/>
          <p:cNvSpPr>
            <a:spLocks noChangeArrowheads="1"/>
          </p:cNvSpPr>
          <p:nvPr/>
        </p:nvSpPr>
        <p:spPr bwMode="auto">
          <a:xfrm>
            <a:off x="2743201" y="61954"/>
            <a:ext cx="184731"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2160"/>
          </a:p>
        </p:txBody>
      </p:sp>
      <p:sp>
        <p:nvSpPr>
          <p:cNvPr id="4" name="Slide Number Placeholder 3"/>
          <p:cNvSpPr>
            <a:spLocks noGrp="1"/>
          </p:cNvSpPr>
          <p:nvPr>
            <p:ph type="sldNum" sz="quarter" idx="12"/>
          </p:nvPr>
        </p:nvSpPr>
        <p:spPr/>
        <p:txBody>
          <a:bodyPr/>
          <a:lstStyle/>
          <a:p>
            <a:fld id="{48F63A3B-78C7-47BE-AE5E-E10140E04643}" type="slidenum">
              <a:rPr lang="en-US" smtClean="0"/>
              <a:pPr/>
              <a:t>14</a:t>
            </a:fld>
            <a:endParaRPr lang="en-US" dirty="0"/>
          </a:p>
        </p:txBody>
      </p:sp>
      <p:sp>
        <p:nvSpPr>
          <p:cNvPr id="6" name="TextBox 5">
            <a:extLst>
              <a:ext uri="{FF2B5EF4-FFF2-40B4-BE49-F238E27FC236}">
                <a16:creationId xmlns:a16="http://schemas.microsoft.com/office/drawing/2014/main" id="{714A041A-5CD6-FFB4-B961-B984F715393F}"/>
              </a:ext>
            </a:extLst>
          </p:cNvPr>
          <p:cNvSpPr txBox="1"/>
          <p:nvPr/>
        </p:nvSpPr>
        <p:spPr>
          <a:xfrm>
            <a:off x="373462" y="7510096"/>
            <a:ext cx="11173770" cy="523220"/>
          </a:xfrm>
          <a:prstGeom prst="rect">
            <a:avLst/>
          </a:prstGeom>
          <a:noFill/>
        </p:spPr>
        <p:txBody>
          <a:bodyPr wrap="square" rtlCol="0">
            <a:spAutoFit/>
          </a:bodyPr>
          <a:lstStyle/>
          <a:p>
            <a:r>
              <a:rPr lang="en-US" sz="1300" dirty="0" i="1">
                <a:solidFill>
                  <a:srgbClr val="FFC000"/>
                </a:solidFill>
                <a:latin typeface="Times New Roman" panose="02020603050405020304" pitchFamily="18" charset="0"/>
                <a:cs typeface="Times New Roman" panose="02020603050405020304" pitchFamily="18" charset="0"/>
              </a:rPr>
              <a:t>Fig. 6: Project Gantt chart</a:t>
            </a:r>
          </a:p>
        </p:txBody>
      </p:sp>
      <p:pic>
        <p:nvPicPr>
          <p:cNvPr id="21515" name="Picture 21514" descr="gantt.png"/>
          <p:cNvPicPr>
            <a:picLocks noChangeAspect="1"/>
          </p:cNvPicPr>
          <p:nvPr/>
        </p:nvPicPr>
        <p:blipFill>
          <a:blip r:embed="rId4"/>
          <a:stretch>
            <a:fillRect/>
          </a:stretch>
        </p:blipFill>
        <p:spPr>
          <a:xfrm>
            <a:off x="420353" y="2471707"/>
            <a:ext cx="9493289" cy="4334261"/>
          </a:xfrm>
          <a:prstGeom prst="rect">
            <a:avLst/>
          </a:prstGeom>
        </p:spPr>
      </p:pic>
    </p:spTree>
    <p:extLst>
      <p:ext uri="{BB962C8B-B14F-4D97-AF65-F5344CB8AC3E}">
        <p14:creationId xmlns:p14="http://schemas.microsoft.com/office/powerpoint/2010/main" val="1468916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ChangeArrowheads="1"/>
          </p:cNvSpPr>
          <p:nvPr/>
        </p:nvSpPr>
        <p:spPr bwMode="auto">
          <a:xfrm>
            <a:off x="222713" y="7528087"/>
            <a:ext cx="8189768" cy="454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lnSpc>
                <a:spcPct val="80000"/>
              </a:lnSpc>
            </a:pPr>
            <a:r>
              <a:rPr lang="en-US" altLang="en-US" sz="1300" dirty="0" i="1">
                <a:latin typeface="Times New Roman" panose="02020603050405020304" pitchFamily="18" charset="0"/>
                <a:cs typeface="Times New Roman" panose="02020603050405020304" pitchFamily="18" charset="0"/>
              </a:rPr>
              <a:t>Fig. 7: Soil-moisture calibration transfer curves (measured)</a:t>
            </a:r>
          </a:p>
        </p:txBody>
      </p:sp>
      <p:sp>
        <p:nvSpPr>
          <p:cNvPr id="22531" name="Text Box 15"/>
          <p:cNvSpPr txBox="1">
            <a:spLocks noChangeArrowheads="1"/>
          </p:cNvSpPr>
          <p:nvPr/>
        </p:nvSpPr>
        <p:spPr bwMode="auto">
          <a:xfrm>
            <a:off x="7723695" y="1854950"/>
            <a:ext cx="8469497"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ts val="1200"/>
              </a:spcBef>
            </a:pPr>
            <a:r>
              <a:rPr lang="en-US" altLang="en-US" sz="1700" dirty="0">
                <a:solidFill>
                  <a:srgbClr val="1F497D"/>
                </a:solidFill>
                <a:latin typeface="Times New Roman" panose="02020603050405020304" pitchFamily="18" charset="0"/>
                <a:cs typeface="Times New Roman" panose="02020603050405020304" pitchFamily="18" charset="0"/>
              </a:rPr>
              <a:t>Both capacitive soil probes were calibrated by two-point measurement: dry in air, then submerged in water.</a:t>
            </a:r>
          </a:p>
          <a:p>
            <a:pPr eaLnBrk="1" hangingPunct="1">
              <a:spcBef>
                <a:spcPts val="1200"/>
              </a:spcBef>
            </a:pPr>
            <a:r>
              <a:rPr lang="en-US" altLang="en-US" sz="1700" dirty="0">
                <a:solidFill>
                  <a:srgbClr val="1F497D"/>
                </a:solidFill>
                <a:latin typeface="Times New Roman" panose="02020603050405020304" pitchFamily="18" charset="0"/>
                <a:cs typeface="Times New Roman" panose="02020603050405020304" pitchFamily="18" charset="0"/>
              </a:rPr>
              <a:t>The wide usable span (about 1,380 ADC counts) gives roughly 0.07% moisture resolution per count; probes track wetting within seconds.</a:t>
            </a:r>
          </a:p>
          <a:p>
            <a:pPr eaLnBrk="1" hangingPunct="1">
              <a:spcBef>
                <a:spcPts val="1200"/>
              </a:spcBef>
            </a:pPr>
            <a:r>
              <a:rPr lang="en-US" altLang="en-US" sz="1700" dirty="0">
                <a:solidFill>
                  <a:srgbClr val="1F497D"/>
                </a:solidFill>
                <a:latin typeface="Times New Roman" panose="02020603050405020304" pitchFamily="18" charset="0"/>
                <a:cs typeface="Times New Roman" panose="02020603050405020304" pitchFamily="18" charset="0"/>
              </a:rPr>
              <a:t>BME280 humidity was verified against breath / mist response; BH1750 tracks room-light changes for the lux threshold.</a:t>
            </a:r>
          </a:p>
        </p:txBody>
      </p:sp>
      <p:sp>
        <p:nvSpPr>
          <p:cNvPr id="22532" name="Oval 3" descr="Parchment"/>
          <p:cNvSpPr>
            <a:spLocks noChangeArrowheads="1"/>
          </p:cNvSpPr>
          <p:nvPr/>
        </p:nvSpPr>
        <p:spPr bwMode="auto">
          <a:xfrm>
            <a:off x="1895302" y="529590"/>
            <a:ext cx="13582996" cy="982587"/>
          </a:xfrm>
          <a:prstGeom prst="ellipse">
            <a:avLst/>
          </a:prstGeom>
          <a:blipFill dpi="0" rotWithShape="1">
            <a:blip r:embed="rId2"/>
            <a:srcRect/>
            <a:tile tx="0" ty="0" sx="100000" sy="100000" flip="none" algn="tl"/>
          </a:blip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sz="3600" b="1" dirty="0">
                <a:solidFill>
                  <a:srgbClr val="0070C0"/>
                </a:solidFill>
                <a:latin typeface="Comic Sans MS" panose="030F0702030302020204" pitchFamily="66" charset="0"/>
              </a:rPr>
              <a:t>Outcomes/Results and Discussions …</a:t>
            </a:r>
          </a:p>
        </p:txBody>
      </p:sp>
      <p:sp>
        <p:nvSpPr>
          <p:cNvPr id="22534" name="Rectangle 6"/>
          <p:cNvSpPr>
            <a:spLocks noChangeArrowheads="1"/>
          </p:cNvSpPr>
          <p:nvPr/>
        </p:nvSpPr>
        <p:spPr bwMode="auto">
          <a:xfrm>
            <a:off x="3324226" y="2606912"/>
            <a:ext cx="306045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dirty="0">
                <a:solidFill>
                  <a:srgbClr val="0000D6"/>
                </a:solidFill>
              </a:rPr>
              <a:t/>
            </a:r>
          </a:p>
        </p:txBody>
      </p:sp>
      <p:sp>
        <p:nvSpPr>
          <p:cNvPr id="22535" name="Rectangle 7"/>
          <p:cNvSpPr>
            <a:spLocks noChangeArrowheads="1"/>
          </p:cNvSpPr>
          <p:nvPr/>
        </p:nvSpPr>
        <p:spPr bwMode="auto">
          <a:xfrm>
            <a:off x="3531845" y="4058266"/>
            <a:ext cx="381065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solidFill>
                  <a:srgbClr val="008000"/>
                </a:solidFill>
              </a:rPr>
              <a:t/>
            </a:r>
          </a:p>
        </p:txBody>
      </p:sp>
      <p:sp>
        <p:nvSpPr>
          <p:cNvPr id="3" name="Slide Number Placeholder 2"/>
          <p:cNvSpPr>
            <a:spLocks noGrp="1"/>
          </p:cNvSpPr>
          <p:nvPr>
            <p:ph type="sldNum" sz="quarter" idx="12"/>
          </p:nvPr>
        </p:nvSpPr>
        <p:spPr/>
        <p:txBody>
          <a:bodyPr/>
          <a:lstStyle/>
          <a:p>
            <a:fld id="{48F63A3B-78C7-47BE-AE5E-E10140E04643}" type="slidenum">
              <a:rPr lang="en-US" smtClean="0"/>
              <a:pPr/>
              <a:t>15</a:t>
            </a:fld>
            <a:endParaRPr lang="en-US" dirty="0"/>
          </a:p>
        </p:txBody>
      </p:sp>
      <p:graphicFrame>
        <p:nvGraphicFramePr>
          <p:cNvPr id="10" name="Table 9"/>
          <p:cNvGraphicFramePr>
            <a:graphicFrameLocks noGrp="1"/>
          </p:cNvGraphicFramePr>
          <p:nvPr/>
        </p:nvGraphicFramePr>
        <p:xfrm>
          <a:off x="10149840" y="4526280"/>
          <a:ext cx="6126480" cy="1371600"/>
        </p:xfrm>
        <a:graphic>
          <a:graphicData uri="http://schemas.openxmlformats.org/drawingml/2006/table">
            <a:tbl>
              <a:tblPr firstRow="1" bandRow="1">
                <a:tableStyleId>{5C22544A-7EE6-4342-B048-85BDC9FD1C3A}</a:tableStyleId>
              </a:tblPr>
              <a:tblGrid>
                <a:gridCol w="1554480">
                  <a:extLst>
                    <a:ext uri="{9D8B030D-6E8A-4147-A177-3AD203B41FA5}">
                      <a16:colId xmlns:a16="http://schemas.microsoft.com/office/drawing/2014/main" val="1222092067"/>
                    </a:ext>
                  </a:extLst>
                </a:gridCol>
                <a:gridCol w="1554480">
                  <a:extLst>
                    <a:ext uri="{9D8B030D-6E8A-4147-A177-3AD203B41FA5}">
                      <a16:colId xmlns:a16="http://schemas.microsoft.com/office/drawing/2014/main" val="1861634225"/>
                    </a:ext>
                  </a:extLst>
                </a:gridCol>
                <a:gridCol w="1645920">
                  <a:extLst>
                    <a:ext uri="{9D8B030D-6E8A-4147-A177-3AD203B41FA5}">
                      <a16:colId xmlns:a16="http://schemas.microsoft.com/office/drawing/2014/main" val="4216423268"/>
                    </a:ext>
                  </a:extLst>
                </a:gridCol>
                <a:gridCol w="1371600">
                  <a:extLst>
                    <a:ext uri="{9D8B030D-6E8A-4147-A177-3AD203B41FA5}">
                      <a16:colId xmlns:a16="http://schemas.microsoft.com/office/drawing/2014/main" val="2899842173"/>
                    </a:ext>
                  </a:extLst>
                </a:gridCol>
              </a:tblGrid>
              <a:tr h="457200">
                <a:tc>
                  <a:txBody>
                    <a:bodyPr/>
                    <a:lstStyle/>
                    <a:p>
                      <a:pPr algn="ctr"/>
                      <a:r>
                        <a:rPr sz="1400" b="1"/>
                        <a:t>Probe</a:t>
                      </a:r>
                    </a:p>
                  </a:txBody>
                  <a:tcPr/>
                </a:tc>
                <a:tc>
                  <a:txBody>
                    <a:bodyPr/>
                    <a:lstStyle/>
                    <a:p>
                      <a:pPr algn="ctr"/>
                      <a:r>
                        <a:rPr sz="1400" b="1"/>
                        <a:t>ADC dry (air)</a:t>
                      </a:r>
                    </a:p>
                  </a:txBody>
                  <a:tcPr/>
                </a:tc>
                <a:tc>
                  <a:txBody>
                    <a:bodyPr/>
                    <a:lstStyle/>
                    <a:p>
                      <a:pPr algn="ctr"/>
                      <a:r>
                        <a:rPr sz="1400" b="1"/>
                        <a:t>ADC wet (water)</a:t>
                      </a:r>
                    </a:p>
                  </a:txBody>
                  <a:tcPr/>
                </a:tc>
                <a:tc>
                  <a:txBody>
                    <a:bodyPr/>
                    <a:lstStyle/>
                    <a:p>
                      <a:pPr algn="ctr"/>
                      <a:r>
                        <a:rPr sz="1400" b="1"/>
                        <a:t>Usable span</a:t>
                      </a:r>
                    </a:p>
                  </a:txBody>
                  <a:tcPr/>
                </a:tc>
                <a:extLst>
                  <a:ext uri="{0D108BD9-81ED-4DB2-BD59-A6C34878D82A}">
                    <a16:rowId xmlns:a16="http://schemas.microsoft.com/office/drawing/2014/main" val="2072660025"/>
                  </a:ext>
                </a:extLst>
              </a:tr>
              <a:tr h="457200">
                <a:tc>
                  <a:txBody>
                    <a:bodyPr/>
                    <a:lstStyle/>
                    <a:p>
                      <a:pPr algn="ctr"/>
                      <a:r>
                        <a:rPr sz="1400" b="0"/>
                        <a:t>Soil 1</a:t>
                      </a:r>
                    </a:p>
                  </a:txBody>
                  <a:tcPr/>
                </a:tc>
                <a:tc>
                  <a:txBody>
                    <a:bodyPr/>
                    <a:lstStyle/>
                    <a:p>
                      <a:pPr algn="ctr"/>
                      <a:r>
                        <a:rPr sz="1400" b="0"/>
                        <a:t>2450</a:t>
                      </a:r>
                    </a:p>
                  </a:txBody>
                  <a:tcPr/>
                </a:tc>
                <a:tc>
                  <a:txBody>
                    <a:bodyPr/>
                    <a:lstStyle/>
                    <a:p>
                      <a:pPr algn="ctr"/>
                      <a:r>
                        <a:rPr sz="1400" b="0"/>
                        <a:t>1070</a:t>
                      </a:r>
                    </a:p>
                  </a:txBody>
                  <a:tcPr/>
                </a:tc>
                <a:tc>
                  <a:txBody>
                    <a:bodyPr/>
                    <a:lstStyle/>
                    <a:p>
                      <a:pPr algn="ctr"/>
                      <a:r>
                        <a:rPr sz="1400" b="0"/>
                        <a:t>1380</a:t>
                      </a:r>
                    </a:p>
                  </a:txBody>
                  <a:tcPr/>
                </a:tc>
                <a:extLst>
                  <a:ext uri="{0D108BD9-81ED-4DB2-BD59-A6C34878D82A}">
                    <a16:rowId xmlns:a16="http://schemas.microsoft.com/office/drawing/2014/main" val="2050964191"/>
                  </a:ext>
                </a:extLst>
              </a:tr>
              <a:tr h="457200">
                <a:tc>
                  <a:txBody>
                    <a:bodyPr/>
                    <a:lstStyle/>
                    <a:p>
                      <a:pPr algn="ctr"/>
                      <a:r>
                        <a:rPr sz="1400" b="0"/>
                        <a:t>Soil 2</a:t>
                      </a:r>
                    </a:p>
                  </a:txBody>
                  <a:tcPr/>
                </a:tc>
                <a:tc>
                  <a:txBody>
                    <a:bodyPr/>
                    <a:lstStyle/>
                    <a:p>
                      <a:pPr algn="ctr"/>
                      <a:r>
                        <a:rPr sz="1400" b="0"/>
                        <a:t>2485</a:t>
                      </a:r>
                    </a:p>
                  </a:txBody>
                  <a:tcPr/>
                </a:tc>
                <a:tc>
                  <a:txBody>
                    <a:bodyPr/>
                    <a:lstStyle/>
                    <a:p>
                      <a:pPr algn="ctr"/>
                      <a:r>
                        <a:rPr sz="1400" b="0"/>
                        <a:t>1070</a:t>
                      </a:r>
                    </a:p>
                  </a:txBody>
                  <a:tcPr/>
                </a:tc>
                <a:tc>
                  <a:txBody>
                    <a:bodyPr/>
                    <a:lstStyle/>
                    <a:p>
                      <a:pPr algn="ctr"/>
                      <a:r>
                        <a:rPr sz="1400" b="0"/>
                        <a:t>1415</a:t>
                      </a:r>
                    </a:p>
                  </a:txBody>
                  <a:tcPr/>
                </a:tc>
                <a:extLst>
                  <a:ext uri="{0D108BD9-81ED-4DB2-BD59-A6C34878D82A}">
                    <a16:rowId xmlns:a16="http://schemas.microsoft.com/office/drawing/2014/main" val="853321946"/>
                  </a:ext>
                </a:extLst>
              </a:tr>
            </a:tbl>
          </a:graphicData>
        </a:graphic>
      </p:graphicFrame>
      <p:sp>
        <p:nvSpPr>
          <p:cNvPr id="11" name="Rectangle 2"/>
          <p:cNvSpPr>
            <a:spLocks noChangeArrowheads="1"/>
          </p:cNvSpPr>
          <p:nvPr/>
        </p:nvSpPr>
        <p:spPr bwMode="auto">
          <a:xfrm>
            <a:off x="10149840" y="4069080"/>
            <a:ext cx="6126480" cy="729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indent="0" algn="ctr" eaLnBrk="1" hangingPunct="1">
              <a:lnSpc>
                <a:spcPct val="80000"/>
              </a:lnSpc>
            </a:pPr>
            <a:r>
              <a:rPr lang="en-US" altLang="en-US" sz="1300" dirty="0" i="1">
                <a:solidFill>
                  <a:srgbClr val="0070C0"/>
                </a:solidFill>
                <a:latin typeface="Times New Roman" panose="02020603050405020304" pitchFamily="18" charset="0"/>
                <a:cs typeface="Times New Roman" panose="02020603050405020304" pitchFamily="18" charset="0"/>
              </a:rPr>
              <a:t>Table 1: Measured soil-sensor calibration</a:t>
            </a:r>
          </a:p>
        </p:txBody>
      </p:sp>
      <p:pic>
        <p:nvPicPr>
          <p:cNvPr id="22536" name="Picture 22535" descr="soil-cal.png"/>
          <p:cNvPicPr>
            <a:picLocks noChangeAspect="1"/>
          </p:cNvPicPr>
          <p:nvPr/>
        </p:nvPicPr>
        <p:blipFill>
          <a:blip r:embed="rId4"/>
          <a:stretch>
            <a:fillRect/>
          </a:stretch>
        </p:blipFill>
        <p:spPr>
          <a:xfrm>
            <a:off x="272588" y="2279301"/>
            <a:ext cx="7558001" cy="4611585"/>
          </a:xfrm>
          <a:prstGeom prst="rect">
            <a:avLst/>
          </a:prstGeom>
        </p:spPr>
      </p:pic>
    </p:spTree>
    <p:extLst>
      <p:ext uri="{BB962C8B-B14F-4D97-AF65-F5344CB8AC3E}">
        <p14:creationId xmlns:p14="http://schemas.microsoft.com/office/powerpoint/2010/main" val="2935707835"/>
      </p:ext>
    </p:extLst>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7410" name="Oval 3" descr="Parchment"/>
          <p:cNvSpPr>
            <a:spLocks noChangeArrowheads="1"/>
          </p:cNvSpPr>
          <p:nvPr/>
        </p:nvSpPr>
        <p:spPr bwMode="auto">
          <a:xfrm>
            <a:off x="1512916" y="529590"/>
            <a:ext cx="12818226" cy="1188720"/>
          </a:xfrm>
          <a:prstGeom prst="ellipse">
            <a:avLst/>
          </a:prstGeom>
          <a:blipFill dpi="0" rotWithShape="1">
            <a:blip r:embed="rId2"/>
            <a:srcRect/>
            <a:tile tx="0" ty="0" sx="100000" sy="100000" flip="none" algn="tl"/>
          </a:blip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sz="3840" b="1" dirty="0">
                <a:solidFill>
                  <a:srgbClr val="0070C0"/>
                </a:solidFill>
                <a:latin typeface="Comic Sans MS" panose="030F0702030302020204" pitchFamily="66" charset="0"/>
              </a:rPr>
              <a:t>Outcomes/Results and Discussions</a:t>
            </a:r>
          </a:p>
        </p:txBody>
      </p:sp>
      <p:sp>
        <p:nvSpPr>
          <p:cNvPr id="17411" name="Rectangle 2"/>
          <p:cNvSpPr>
            <a:spLocks noChangeArrowheads="1"/>
          </p:cNvSpPr>
          <p:nvPr/>
        </p:nvSpPr>
        <p:spPr bwMode="auto">
          <a:xfrm>
            <a:off x="432261" y="2286000"/>
            <a:ext cx="15677803" cy="5212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80000"/>
              </a:lnSpc>
              <a:spcBef>
                <a:spcPct val="20000"/>
              </a:spcBef>
              <a:buFontTx/>
              <a:buChar char="•"/>
            </a:pPr>
            <a:r>
              <a:rPr lang="en-US" altLang="en-US" sz="2000" b="1" dirty="0">
                <a:latin typeface="Times New Roman" panose="02020603050405020304" pitchFamily="18" charset="0"/>
                <a:cs typeface="Times New Roman" panose="02020603050405020304" pitchFamily="18" charset="0"/>
              </a:rPr>
              <a:t>Mist channels switch reliably through the opto-isolated driver after converting to active-low 5 V drive.</a:t>
            </a:r>
          </a:p>
          <a:p>
            <a:pPr eaLnBrk="1" hangingPunct="1">
              <a:lnSpc>
                <a:spcPct val="80000"/>
              </a:lnSpc>
              <a:spcBef>
                <a:spcPct val="20000"/>
              </a:spcBef>
              <a:buFontTx/>
              <a:buChar char="•"/>
            </a:pPr>
            <a:r>
              <a:rPr lang="en-US" altLang="en-US" sz="2000" b="1" dirty="0">
                <a:latin typeface="Times New Roman" panose="02020603050405020304" pitchFamily="18" charset="0"/>
                <a:cs typeface="Times New Roman" panose="02020603050405020304" pitchFamily="18" charset="0"/>
              </a:rPr>
              <a:t>The watering burst / soak cycle and the daily cap were verified live from the dashboard; buzzer and leak alarm respond in the UI in real time.</a:t>
            </a:r>
          </a:p>
          <a:p>
            <a:pPr eaLnBrk="1" hangingPunct="1">
              <a:lnSpc>
                <a:spcPct val="80000"/>
              </a:lnSpc>
              <a:spcBef>
                <a:spcPct val="20000"/>
              </a:spcBef>
              <a:buFontTx/>
              <a:buChar char="•"/>
            </a:pPr>
            <a:r>
              <a:rPr lang="en-US" altLang="en-US" sz="2000" b="1" dirty="0">
                <a:latin typeface="Times New Roman" panose="02020603050405020304" pitchFamily="18" charset="0"/>
                <a:cs typeface="Times New Roman" panose="02020603050405020304" pitchFamily="18" charset="0"/>
              </a:rPr>
              <a:t>Wi-Fi provisioning over USB verified end-to-end: credentials sent from the console, the board joined the target network (RSSI −53 dBm) and the dashboard was reachable immediately.</a:t>
            </a:r>
          </a:p>
          <a:p>
            <a:pPr eaLnBrk="1" hangingPunct="1">
              <a:lnSpc>
                <a:spcPct val="80000"/>
              </a:lnSpc>
              <a:spcBef>
                <a:spcPct val="20000"/>
              </a:spcBef>
              <a:buFontTx/>
              <a:buChar char="•"/>
            </a:pPr>
            <a:r>
              <a:rPr lang="en-US" altLang="en-US" sz="2000" b="1" dirty="0">
                <a:latin typeface="Times New Roman" panose="02020603050405020304" pitchFamily="18" charset="0"/>
                <a:cs typeface="Times New Roman" panose="02020603050405020304" pitchFamily="18" charset="0"/>
              </a:rPr>
              <a:t>Hotspot fallback lets a phone connect with no router present; all settings survive power cycles (NVS flash).</a:t>
            </a:r>
          </a:p>
          <a:p>
            <a:pPr eaLnBrk="1" hangingPunct="1">
              <a:lnSpc>
                <a:spcPct val="80000"/>
              </a:lnSpc>
              <a:spcBef>
                <a:spcPct val="20000"/>
              </a:spcBef>
              <a:buFontTx/>
              <a:buChar char="•"/>
            </a:pPr>
            <a:r>
              <a:rPr lang="en-US" altLang="en-US" sz="2000" b="1" dirty="0">
                <a:latin typeface="Times New Roman" panose="02020603050405020304" pitchFamily="18" charset="0"/>
                <a:cs typeface="Times New Roman" panose="02020603050405020304" pitchFamily="18" charset="0"/>
              </a:rPr>
              <a:t>48-hour soak-test data and the reference-hygrometer comparison will be appended before the final defence.</a:t>
            </a:r>
          </a:p>
        </p:txBody>
      </p:sp>
      <p:sp>
        <p:nvSpPr>
          <p:cNvPr id="3" name="Slide Number Placeholder 2"/>
          <p:cNvSpPr>
            <a:spLocks noGrp="1"/>
          </p:cNvSpPr>
          <p:nvPr>
            <p:ph type="sldNum" sz="quarter" idx="12"/>
          </p:nvPr>
        </p:nvSpPr>
        <p:spPr/>
        <p:txBody>
          <a:bodyPr/>
          <a:lstStyle/>
          <a:p>
            <a:fld id="{48F63A3B-78C7-47BE-AE5E-E10140E04643}" type="slidenum">
              <a:rPr lang="en-US" smtClean="0"/>
              <a:pPr/>
              <a:t>7</a:t>
            </a:fld>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Oval 3" descr="Parchment"/>
          <p:cNvSpPr>
            <a:spLocks noChangeArrowheads="1"/>
          </p:cNvSpPr>
          <p:nvPr/>
        </p:nvSpPr>
        <p:spPr bwMode="auto">
          <a:xfrm>
            <a:off x="1995055" y="529590"/>
            <a:ext cx="11222181" cy="866948"/>
          </a:xfrm>
          <a:prstGeom prst="ellipse">
            <a:avLst/>
          </a:prstGeom>
          <a:blipFill dpi="0" rotWithShape="1">
            <a:blip r:embed="rId2"/>
            <a:srcRect/>
            <a:tile tx="0" ty="0" sx="100000" sy="100000" flip="none" algn="tl"/>
          </a:blip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sz="4000" b="1">
                <a:solidFill>
                  <a:srgbClr val="0070C0"/>
                </a:solidFill>
                <a:latin typeface="Comic Sans MS" panose="030F0702030302020204" pitchFamily="66" charset="0"/>
              </a:rPr>
              <a:t>Conclusions</a:t>
            </a:r>
          </a:p>
        </p:txBody>
      </p:sp>
      <p:sp>
        <p:nvSpPr>
          <p:cNvPr id="23555" name="Text Box 6"/>
          <p:cNvSpPr txBox="1">
            <a:spLocks noChangeArrowheads="1"/>
          </p:cNvSpPr>
          <p:nvPr/>
        </p:nvSpPr>
        <p:spPr bwMode="auto">
          <a:xfrm>
            <a:off x="914400" y="1828800"/>
            <a:ext cx="146304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ct val="80000"/>
              </a:lnSpc>
              <a:spcBef>
                <a:spcPct val="20000"/>
              </a:spcBef>
            </a:pPr>
            <a:r>
              <a:rPr lang="en-US" altLang="en-US" sz="2100" dirty="0">
                <a:solidFill>
                  <a:srgbClr val="0000D6"/>
                </a:solidFill>
                <a:latin typeface="Times New Roman" panose="02020603050405020304" pitchFamily="18" charset="0"/>
                <a:cs typeface="Times New Roman" panose="02020603050405020304" pitchFamily="18" charset="0"/>
              </a:rPr>
              <a:t>A complete closed-loop terrarium controller was developed and verified end-to-end on the bench.</a:t>
            </a:r>
            <a:endParaRPr lang="en-US" altLang="en-US" sz="1000" dirty="0">
              <a:solidFill>
                <a:srgbClr val="0000D6"/>
              </a:solidFill>
              <a:latin typeface="Times New Roman" panose="02020603050405020304" pitchFamily="18" charset="0"/>
              <a:cs typeface="Times New Roman" panose="02020603050405020304" pitchFamily="18" charset="0"/>
            </a:endParaRPr>
          </a:p>
          <a:p>
            <a:pPr>
              <a:lnSpc>
                <a:spcPct val="80000"/>
              </a:lnSpc>
              <a:spcBef>
                <a:spcPct val="20000"/>
              </a:spcBef>
            </a:pPr>
            <a:r>
              <a:rPr lang="en-US" altLang="en-US" sz="2100" dirty="0">
                <a:solidFill>
                  <a:srgbClr val="0000D6"/>
                </a:solidFill>
                <a:latin typeface="Times New Roman" panose="02020603050405020304" pitchFamily="18" charset="0"/>
                <a:cs typeface="Times New Roman" panose="02020603050405020304" pitchFamily="18" charset="0"/>
              </a:rPr>
              <a:t>Five sensing channels were calibrated; mist, fan, light and alarm actuation proven through isolated drivers.</a:t>
            </a:r>
            <a:endParaRPr lang="en-US" altLang="en-US" sz="1000" dirty="0">
              <a:solidFill>
                <a:srgbClr val="0000D6"/>
              </a:solidFill>
              <a:latin typeface="Times New Roman" panose="02020603050405020304" pitchFamily="18" charset="0"/>
              <a:cs typeface="Times New Roman" panose="02020603050405020304" pitchFamily="18" charset="0"/>
            </a:endParaRPr>
          </a:p>
          <a:p>
            <a:pPr>
              <a:lnSpc>
                <a:spcPct val="80000"/>
              </a:lnSpc>
              <a:spcBef>
                <a:spcPct val="20000"/>
              </a:spcBef>
            </a:pPr>
            <a:r>
              <a:rPr lang="en-US" altLang="en-US" sz="2100" dirty="0">
                <a:solidFill>
                  <a:srgbClr val="0000D6"/>
                </a:solidFill>
                <a:latin typeface="Times New Roman" panose="02020603050405020304" pitchFamily="18" charset="0"/>
                <a:cs typeface="Times New Roman" panose="02020603050405020304" pitchFamily="18" charset="0"/>
              </a:rPr>
              <a:t>The system runs internet-free, with dual control paths (Wi-Fi dashboard + USB console) and live-tunable thresholds.</a:t>
            </a:r>
            <a:endParaRPr lang="en-US" altLang="en-US" sz="1000" dirty="0">
              <a:solidFill>
                <a:srgbClr val="0000D6"/>
              </a:solidFill>
              <a:latin typeface="Times New Roman" panose="02020603050405020304" pitchFamily="18" charset="0"/>
              <a:cs typeface="Times New Roman" panose="02020603050405020304" pitchFamily="18" charset="0"/>
            </a:endParaRPr>
          </a:p>
          <a:p>
            <a:pPr>
              <a:lnSpc>
                <a:spcPct val="80000"/>
              </a:lnSpc>
              <a:spcBef>
                <a:spcPct val="20000"/>
              </a:spcBef>
            </a:pPr>
            <a:r>
              <a:rPr lang="en-US" altLang="en-US" sz="2100" dirty="0">
                <a:solidFill>
                  <a:srgbClr val="0000D6"/>
                </a:solidFill>
                <a:latin typeface="Times New Roman" panose="02020603050405020304" pitchFamily="18" charset="0"/>
                <a:cs typeface="Times New Roman" panose="02020603050405020304" pitchFamily="18" charset="0"/>
              </a:rPr>
              <a:t>The platform is low-cost, reproducible and adaptable to other plant species and enclosure sizes.</a:t>
            </a:r>
            <a:endParaRPr lang="en-US" altLang="en-US" sz="1000" dirty="0">
              <a:solidFill>
                <a:srgbClr val="0000D6"/>
              </a:solidFill>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lstStyle/>
          <a:p>
            <a:fld id="{48F63A3B-78C7-47BE-AE5E-E10140E04643}" type="slidenum">
              <a:rPr lang="en-US" smtClean="0"/>
              <a:pPr/>
              <a:t>16</a:t>
            </a:fld>
            <a:endParaRPr lang="en-US" dirty="0"/>
          </a:p>
        </p:txBody>
      </p:sp>
    </p:spTree>
    <p:extLst>
      <p:ext uri="{BB962C8B-B14F-4D97-AF65-F5344CB8AC3E}">
        <p14:creationId xmlns:p14="http://schemas.microsoft.com/office/powerpoint/2010/main" val="5075934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ChangeArrowheads="1"/>
          </p:cNvSpPr>
          <p:nvPr/>
        </p:nvSpPr>
        <p:spPr bwMode="auto">
          <a:xfrm>
            <a:off x="232755" y="1961803"/>
            <a:ext cx="15943811" cy="4937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90000"/>
              </a:lnSpc>
              <a:spcBef>
                <a:spcPct val="20000"/>
              </a:spcBef>
              <a:buFontTx/>
              <a:buChar char="•"/>
            </a:pPr>
            <a:r>
              <a:rPr lang="en-US" altLang="en-US" sz="2100" dirty="0">
                <a:solidFill>
                  <a:srgbClr val="00B050"/>
                </a:solidFill>
                <a:latin typeface="Times New Roman" panose="02020603050405020304" pitchFamily="18" charset="0"/>
                <a:cs typeface="Times New Roman" panose="02020603050405020304" pitchFamily="18" charset="0"/>
              </a:rPr>
              <a:t>Integrate the 3D-printed PETG enclosure and the 12 V lighting / airflow stage.</a:t>
            </a:r>
            <a:endParaRPr lang="en-US" altLang="en-US" sz="3200" dirty="0">
              <a:solidFill>
                <a:srgbClr val="0000D6"/>
              </a:solidFill>
              <a:latin typeface="Times New Roman" panose="02020603050405020304" pitchFamily="18" charset="0"/>
              <a:cs typeface="Times New Roman" panose="02020603050405020304" pitchFamily="18" charset="0"/>
            </a:endParaRPr>
          </a:p>
          <a:p>
            <a:pPr eaLnBrk="1" hangingPunct="1">
              <a:lnSpc>
                <a:spcPct val="90000"/>
              </a:lnSpc>
              <a:spcBef>
                <a:spcPct val="20000"/>
              </a:spcBef>
              <a:buFontTx/>
              <a:buChar char="•"/>
            </a:pPr>
            <a:r>
              <a:rPr lang="en-US" altLang="en-US" sz="2100" dirty="0">
                <a:solidFill>
                  <a:srgbClr val="00B050"/>
                </a:solidFill>
                <a:latin typeface="Times New Roman" panose="02020603050405020304" pitchFamily="18" charset="0"/>
                <a:cs typeface="Times New Roman" panose="02020603050405020304" pitchFamily="18" charset="0"/>
              </a:rPr>
              <a:t>Long-term data logging with charts, trends and mobile push alerts.</a:t>
            </a:r>
            <a:endParaRPr lang="en-US" altLang="en-US" sz="3200" dirty="0">
              <a:solidFill>
                <a:srgbClr val="0000D6"/>
              </a:solidFill>
              <a:latin typeface="Times New Roman" panose="02020603050405020304" pitchFamily="18" charset="0"/>
              <a:cs typeface="Times New Roman" panose="02020603050405020304" pitchFamily="18" charset="0"/>
            </a:endParaRPr>
          </a:p>
          <a:p>
            <a:pPr eaLnBrk="1" hangingPunct="1">
              <a:lnSpc>
                <a:spcPct val="90000"/>
              </a:lnSpc>
              <a:spcBef>
                <a:spcPct val="20000"/>
              </a:spcBef>
              <a:buFontTx/>
              <a:buChar char="•"/>
            </a:pPr>
            <a:r>
              <a:rPr lang="en-US" altLang="en-US" sz="2100" dirty="0">
                <a:solidFill>
                  <a:srgbClr val="00B050"/>
                </a:solidFill>
                <a:latin typeface="Times New Roman" panose="02020603050405020304" pitchFamily="18" charset="0"/>
                <a:cs typeface="Times New Roman" panose="02020603050405020304" pitchFamily="18" charset="0"/>
              </a:rPr>
              <a:t>Camera-based plant-health monitoring (leaf-colour analysis).</a:t>
            </a:r>
            <a:endParaRPr lang="en-US" altLang="en-US" sz="3200" dirty="0">
              <a:solidFill>
                <a:srgbClr val="0000D6"/>
              </a:solidFill>
              <a:latin typeface="Times New Roman" panose="02020603050405020304" pitchFamily="18" charset="0"/>
              <a:cs typeface="Times New Roman" panose="02020603050405020304" pitchFamily="18" charset="0"/>
            </a:endParaRPr>
          </a:p>
          <a:p>
            <a:pPr eaLnBrk="1" hangingPunct="1">
              <a:lnSpc>
                <a:spcPct val="90000"/>
              </a:lnSpc>
              <a:spcBef>
                <a:spcPct val="20000"/>
              </a:spcBef>
              <a:buFontTx/>
              <a:buChar char="•"/>
            </a:pPr>
            <a:r>
              <a:rPr lang="en-US" altLang="en-US" sz="2100" dirty="0">
                <a:solidFill>
                  <a:srgbClr val="00B050"/>
                </a:solidFill>
                <a:latin typeface="Times New Roman" panose="02020603050405020304" pitchFamily="18" charset="0"/>
                <a:cs typeface="Times New Roman" panose="02020603050405020304" pitchFamily="18" charset="0"/>
              </a:rPr>
              <a:t>Battery / UPS backup and multi-terrarium networking from one console.</a:t>
            </a:r>
            <a:endParaRPr lang="en-US" altLang="en-US" sz="3200" dirty="0">
              <a:solidFill>
                <a:srgbClr val="0000D6"/>
              </a:solidFill>
              <a:latin typeface="Times New Roman" panose="02020603050405020304" pitchFamily="18" charset="0"/>
              <a:cs typeface="Times New Roman" panose="02020603050405020304" pitchFamily="18" charset="0"/>
            </a:endParaRPr>
          </a:p>
        </p:txBody>
      </p:sp>
      <p:sp>
        <p:nvSpPr>
          <p:cNvPr id="25603" name="Oval 3" descr="Parchment"/>
          <p:cNvSpPr>
            <a:spLocks noChangeArrowheads="1"/>
          </p:cNvSpPr>
          <p:nvPr/>
        </p:nvSpPr>
        <p:spPr bwMode="auto">
          <a:xfrm>
            <a:off x="1363286" y="457200"/>
            <a:ext cx="13948757" cy="1188720"/>
          </a:xfrm>
          <a:prstGeom prst="ellipse">
            <a:avLst/>
          </a:prstGeom>
          <a:blipFill dpi="0" rotWithShape="1">
            <a:blip r:embed="rId2"/>
            <a:srcRect/>
            <a:tile tx="0" ty="0" sx="100000" sy="100000" flip="none" algn="tl"/>
          </a:blip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sz="4000" b="1">
                <a:solidFill>
                  <a:srgbClr val="0070C0"/>
                </a:solidFill>
                <a:latin typeface="Comic Sans MS" panose="030F0702030302020204" pitchFamily="66" charset="0"/>
              </a:rPr>
              <a:t>Future Scopes</a:t>
            </a:r>
          </a:p>
        </p:txBody>
      </p:sp>
      <p:sp>
        <p:nvSpPr>
          <p:cNvPr id="3" name="Slide Number Placeholder 2"/>
          <p:cNvSpPr>
            <a:spLocks noGrp="1"/>
          </p:cNvSpPr>
          <p:nvPr>
            <p:ph type="sldNum" sz="quarter" idx="12"/>
          </p:nvPr>
        </p:nvSpPr>
        <p:spPr/>
        <p:txBody>
          <a:bodyPr/>
          <a:lstStyle/>
          <a:p>
            <a:fld id="{48F63A3B-78C7-47BE-AE5E-E10140E04643}" type="slidenum">
              <a:rPr lang="en-US" smtClean="0"/>
              <a:pPr/>
              <a:t>17</a:t>
            </a:fld>
            <a:endParaRPr lang="en-US" dirty="0"/>
          </a:p>
        </p:txBody>
      </p:sp>
    </p:spTree>
    <p:extLst>
      <p:ext uri="{BB962C8B-B14F-4D97-AF65-F5344CB8AC3E}">
        <p14:creationId xmlns:p14="http://schemas.microsoft.com/office/powerpoint/2010/main" val="1734502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99652-6805-4BCB-82F2-65ABD02EC79B}"/>
              </a:ext>
            </a:extLst>
          </p:cNvPr>
          <p:cNvSpPr>
            <a:spLocks noGrp="1"/>
          </p:cNvSpPr>
          <p:nvPr>
            <p:ph type="title"/>
          </p:nvPr>
        </p:nvSpPr>
        <p:spPr>
          <a:xfrm>
            <a:off x="762001" y="600493"/>
            <a:ext cx="15122768" cy="1191665"/>
          </a:xfrm>
        </p:spPr>
        <p:txBody>
          <a:bodyPr>
            <a:normAutofit/>
          </a:bodyPr>
          <a:lstStyle/>
          <a:p>
            <a:r>
              <a:rPr lang="en-US" sz="6000" b="1" dirty="0">
                <a:solidFill>
                  <a:srgbClr val="0070C0"/>
                </a:solidFill>
                <a:latin typeface="Times New Roman" panose="02020603050405020304" pitchFamily="18" charset="0"/>
                <a:cs typeface="Times New Roman" panose="02020603050405020304" pitchFamily="18" charset="0"/>
              </a:rPr>
              <a:t>Thanks for Listening our Presentation….</a:t>
            </a:r>
          </a:p>
        </p:txBody>
      </p:sp>
      <p:grpSp>
        <p:nvGrpSpPr>
          <p:cNvPr id="5" name="Group 6"/>
          <p:cNvGrpSpPr>
            <a:grpSpLocks/>
          </p:cNvGrpSpPr>
          <p:nvPr/>
        </p:nvGrpSpPr>
        <p:grpSpPr bwMode="auto">
          <a:xfrm>
            <a:off x="7398325" y="2015067"/>
            <a:ext cx="6724076" cy="5532886"/>
            <a:chOff x="432" y="1584"/>
            <a:chExt cx="3072" cy="2426"/>
          </a:xfrm>
        </p:grpSpPr>
        <p:sp>
          <p:nvSpPr>
            <p:cNvPr id="6" name="AutoShape 3"/>
            <p:cNvSpPr>
              <a:spLocks noChangeArrowheads="1"/>
            </p:cNvSpPr>
            <p:nvPr/>
          </p:nvSpPr>
          <p:spPr bwMode="auto">
            <a:xfrm>
              <a:off x="1296" y="1584"/>
              <a:ext cx="2208" cy="816"/>
            </a:xfrm>
            <a:prstGeom prst="cloudCallout">
              <a:avLst>
                <a:gd name="adj1" fmla="val -41574"/>
                <a:gd name="adj2" fmla="val 140565"/>
              </a:avLst>
            </a:prstGeom>
            <a:solidFill>
              <a:schemeClr val="accent3"/>
            </a:solidFill>
            <a:ln w="9525">
              <a:solidFill>
                <a:schemeClr val="accent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endParaRPr lang="en-US" altLang="en-US" sz="2800"/>
            </a:p>
          </p:txBody>
        </p:sp>
        <p:pic>
          <p:nvPicPr>
            <p:cNvPr id="7" name="Picture 4" descr="j030125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2" y="3024"/>
              <a:ext cx="1153" cy="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WordArt 5"/>
            <p:cNvSpPr>
              <a:spLocks noChangeArrowheads="1" noChangeShapeType="1" noTextEdit="1"/>
            </p:cNvSpPr>
            <p:nvPr/>
          </p:nvSpPr>
          <p:spPr bwMode="auto">
            <a:xfrm>
              <a:off x="2208" y="1728"/>
              <a:ext cx="421" cy="612"/>
            </a:xfrm>
            <a:prstGeom prst="rect">
              <a:avLst/>
            </a:prstGeom>
          </p:spPr>
          <p:txBody>
            <a:bodyPr wrap="none" fromWordArt="1">
              <a:prstTxWarp prst="textPlain">
                <a:avLst>
                  <a:gd name="adj" fmla="val 50000"/>
                </a:avLst>
              </a:prstTxWarp>
            </a:bodyPr>
            <a:lstStyle/>
            <a:p>
              <a:pPr algn="ctr"/>
              <a:r>
                <a:rPr lang="en-US" sz="5520" kern="10" dirty="0">
                  <a:ln w="9525">
                    <a:solidFill>
                      <a:schemeClr val="accent5">
                        <a:lumMod val="75000"/>
                      </a:schemeClr>
                    </a:solidFill>
                    <a:round/>
                    <a:headEnd/>
                    <a:tailEnd/>
                  </a:ln>
                  <a:solidFill>
                    <a:srgbClr val="00B050"/>
                  </a:solidFill>
                  <a:latin typeface="Arial Black"/>
                </a:rPr>
                <a:t>?</a:t>
              </a:r>
            </a:p>
          </p:txBody>
        </p:sp>
      </p:grpSp>
      <p:sp>
        <p:nvSpPr>
          <p:cNvPr id="3" name="Date Placeholder 2"/>
          <p:cNvSpPr>
            <a:spLocks noGrp="1"/>
          </p:cNvSpPr>
          <p:nvPr>
            <p:ph type="dt" sz="half" idx="10"/>
          </p:nvPr>
        </p:nvSpPr>
        <p:spPr/>
        <p:txBody>
          <a:bodyPr/>
          <a:lstStyle/>
          <a:p>
            <a:fld id="{D595E484-204C-41CF-AA8E-AE5C26E05CE2}" type="datetime3">
              <a:rPr lang="en-US" smtClean="0"/>
              <a:t>24 August 2026</a:t>
            </a:fld>
            <a:endParaRPr lang="en-US"/>
          </a:p>
        </p:txBody>
      </p:sp>
      <p:sp>
        <p:nvSpPr>
          <p:cNvPr id="9" name="Slide Number Placeholder 8"/>
          <p:cNvSpPr>
            <a:spLocks noGrp="1"/>
          </p:cNvSpPr>
          <p:nvPr>
            <p:ph type="sldNum" sz="quarter" idx="12"/>
          </p:nvPr>
        </p:nvSpPr>
        <p:spPr/>
        <p:txBody>
          <a:bodyPr/>
          <a:lstStyle/>
          <a:p>
            <a:fld id="{48F63A3B-78C7-47BE-AE5E-E10140E04643}" type="slidenum">
              <a:rPr lang="en-US" smtClean="0"/>
              <a:t>18</a:t>
            </a:fld>
            <a:endParaRPr lang="en-US" dirty="0"/>
          </a:p>
        </p:txBody>
      </p:sp>
    </p:spTree>
    <p:extLst>
      <p:ext uri="{BB962C8B-B14F-4D97-AF65-F5344CB8AC3E}">
        <p14:creationId xmlns:p14="http://schemas.microsoft.com/office/powerpoint/2010/main" val="47875326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ReferenceId xmlns="cf7415a2-fa68-4c62-95f2-21d2b367fa03"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DBA672AFCB6DE544BD5A68C77EC3AFD8" ma:contentTypeVersion="5" ma:contentTypeDescription="Create a new document." ma:contentTypeScope="" ma:versionID="6ea710b4e8d3937f28ceed2e4a38c4ff">
  <xsd:schema xmlns:xsd="http://www.w3.org/2001/XMLSchema" xmlns:xs="http://www.w3.org/2001/XMLSchema" xmlns:p="http://schemas.microsoft.com/office/2006/metadata/properties" xmlns:ns2="cf7415a2-fa68-4c62-95f2-21d2b367fa03" targetNamespace="http://schemas.microsoft.com/office/2006/metadata/properties" ma:root="true" ma:fieldsID="54cabff6b5ca5908d1d94481096c2224" ns2:_="">
    <xsd:import namespace="cf7415a2-fa68-4c62-95f2-21d2b367fa03"/>
    <xsd:element name="properties">
      <xsd:complexType>
        <xsd:sequence>
          <xsd:element name="documentManagement">
            <xsd:complexType>
              <xsd:all>
                <xsd:element ref="ns2:ReferenceId" minOccurs="0"/>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f7415a2-fa68-4c62-95f2-21d2b367fa03" elementFormDefault="qualified">
    <xsd:import namespace="http://schemas.microsoft.com/office/2006/documentManagement/types"/>
    <xsd:import namespace="http://schemas.microsoft.com/office/infopath/2007/PartnerControls"/>
    <xsd:element name="ReferenceId" ma:index="8" nillable="true" ma:displayName="ReferenceId" ma:indexed="true" ma:internalName="ReferenceId">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358E20A-3CCF-4936-A030-6C75490658A6}">
  <ds:schemaRefs>
    <ds:schemaRef ds:uri="http://purl.org/dc/elements/1.1/"/>
    <ds:schemaRef ds:uri="http://schemas.microsoft.com/office/infopath/2007/PartnerControls"/>
    <ds:schemaRef ds:uri="http://purl.org/dc/terms/"/>
    <ds:schemaRef ds:uri="http://schemas.microsoft.com/office/2006/documentManagement/types"/>
    <ds:schemaRef ds:uri="http://schemas.openxmlformats.org/package/2006/metadata/core-properties"/>
    <ds:schemaRef ds:uri="http://www.w3.org/XML/1998/namespace"/>
    <ds:schemaRef ds:uri="http://purl.org/dc/dcmitype/"/>
    <ds:schemaRef ds:uri="f05aa4fc-6785-42fa-879e-4fefad1725f6"/>
    <ds:schemaRef ds:uri="http://schemas.microsoft.com/office/2006/metadata/properties"/>
    <ds:schemaRef ds:uri="b8d4537a-75fc-4c95-93ca-a321653b0576"/>
    <ds:schemaRef ds:uri="05cbef25-41ae-40f8-a41b-d8773b93d88d"/>
    <ds:schemaRef ds:uri="b9f894d8-f8e2-4a96-9176-bd69f127f274"/>
    <ds:schemaRef ds:uri="22ca2055-02e5-46b2-8c23-a3a6996b2dc2"/>
    <ds:schemaRef ds:uri="cf7415a2-fa68-4c62-95f2-21d2b367fa03"/>
  </ds:schemaRefs>
</ds:datastoreItem>
</file>

<file path=customXml/itemProps2.xml><?xml version="1.0" encoding="utf-8"?>
<ds:datastoreItem xmlns:ds="http://schemas.openxmlformats.org/officeDocument/2006/customXml" ds:itemID="{782596E4-4DA3-4A31-A118-2272FCA198A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f7415a2-fa68-4c62-95f2-21d2b367fa0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6A4027F-3D24-4D53-BFC9-3C8233FBA00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8020</TotalTime>
  <Words>1792</Words>
  <Application>Microsoft Office PowerPoint</Application>
  <PresentationFormat>Custom</PresentationFormat>
  <Paragraphs>215</Paragraphs>
  <Slides>18</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18</vt:i4>
      </vt:variant>
    </vt:vector>
  </HeadingPairs>
  <TitlesOfParts>
    <vt:vector size="28" baseType="lpstr">
      <vt:lpstr>Arial</vt:lpstr>
      <vt:lpstr>Arial Black</vt:lpstr>
      <vt:lpstr>Britannic Bold</vt:lpstr>
      <vt:lpstr>Calibri</vt:lpstr>
      <vt:lpstr>Calibri Light</vt:lpstr>
      <vt:lpstr>Cambria Math</vt:lpstr>
      <vt:lpstr>Comic Sans MS</vt:lpstr>
      <vt:lpstr>Times New Roman</vt:lpstr>
      <vt:lpstr>Wingdings</vt:lpstr>
      <vt:lpstr>Office Theme</vt:lpstr>
      <vt:lpstr>Course Capstone Project Proposal Title: Each Word First Character of the Title must be Capitalized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Thanks for Listening our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Jahid Hasan</dc:creator>
  <cp:lastModifiedBy>DEBRAJ DAS</cp:lastModifiedBy>
  <cp:revision>456</cp:revision>
  <dcterms:created xsi:type="dcterms:W3CDTF">2017-01-20T15:00:05Z</dcterms:created>
  <dcterms:modified xsi:type="dcterms:W3CDTF">2026-08-24T04:08:50Z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0x010100DBA672AFCB6DE544BD5A68C77EC3AFD8</vt:lpwstr>
  </property>
</Properties>
</file>